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0055" autoAdjust="0"/>
  </p:normalViewPr>
  <p:slideViewPr>
    <p:cSldViewPr snapToGrid="0">
      <p:cViewPr varScale="1">
        <p:scale>
          <a:sx n="55" d="100"/>
          <a:sy n="55" d="100"/>
        </p:scale>
        <p:origin x="1742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9CECF-17A8-4784-B096-E9B35CA453A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E2667-9840-4E51-826B-BF14B5878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681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07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402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920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636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430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771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292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548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790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520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306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264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ADDE5-4C56-1727-0132-C8214DF45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138835-C177-62B9-40AA-B87BDAA7A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FE17A-F292-8DA6-FE71-967C2C61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7F3C1-6E63-2E3F-3C51-D3BC518DE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F6E9A-4594-B42F-B6FB-8AA89372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89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73016-1BAF-97BE-0192-874A28AC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A8A7C-D655-2BD6-E295-53FF66DF8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100F3-8598-C757-3B7D-B132845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486C0-BC6D-4E59-C072-CB2B5E9FF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CBED-978D-F210-83D8-E15BCEEA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610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A3F9A-48D5-750B-D4BB-2B19EC758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E128B-47DB-5BE0-DDA5-0BE5E198B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D6E38-EA39-7424-75C3-EF0D41DF1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6279C-C046-EBB8-2F64-A31B14E3B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389F0-E76E-A0F4-F22B-D9E8095EA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977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B02E8-D22B-E8F2-D905-058E930A3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0D9A2-F76C-4E8D-36A2-2C347B763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02E685-D0C4-CC5C-BEF6-34B186150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D691A-E8B8-1360-71F6-6F621EDD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9BD73-657E-58FD-378E-D211140E5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8E146-6A09-048C-A7D0-14FC21B51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131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ADA3B-BA41-C5AC-3F51-D89A46D51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12E6E-3EC6-66E2-669D-380D88AF8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4FB41-96CE-B9DF-54F1-3DA70AA26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7369D-C90E-5FFB-2D80-10802E954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814E29-5163-C026-B761-65A9723310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91F8BC-611C-0C56-9CCA-A2C49AEF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8F196-E681-0FF6-82BC-47A329332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028B5F-8A1C-DA5B-3321-F84804FB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942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AAF4B-D5D2-0718-4847-87D55A45D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A4A58-F995-8B25-07A8-90ED190A9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72F9-B57F-9628-71BD-3A6C5D122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F5FD5-DFA4-57D6-D603-5D533313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90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C355FB-4D4A-3ADF-7F52-A7F8A7AE1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F32038-DD25-3211-E089-DB54B8D86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0D02-62D8-1E67-2E4B-A453B2F68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097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48FD-F596-417B-2F8D-84CC52E2E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368F0-0E56-8E94-7411-710BEB604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A6CD3-785A-1CF9-BBB9-E638A7661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A18C2-305F-F95F-6B87-C810F1F95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574A9-8970-1691-AE82-EC0C5A8FF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27F4B-CEFC-7CEE-D043-E0479517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637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28E6F-207C-9A18-4EA1-8118A20C1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F00EB1-75E9-9B59-C8EC-F8243736F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E551D-838E-2A61-97EC-2A38D25BD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E1AC-B360-BC12-368D-E6DB63503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A1FAF-BBD8-F7BA-7707-815D1993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89A9B-F97F-4A3E-DCD5-42B2636F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581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0701-7969-547F-C0CB-60ECABC10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7409F-D3F4-5F3D-82AA-EBF028A4B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CC3A3-D13E-9ECA-9E34-616644A08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79294-2577-527E-4239-5F7C63F1A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04FF0-DF93-66EC-2BF9-8E5BB870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487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C67FB2-FDDB-29FA-D1DA-9D7BE1F41A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DF944-BBC3-2EE1-831A-64FE0E5A6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4CEB7-BE47-73E8-2372-EC0161E1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07F9E-F23B-75E6-B19E-9210266B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375E6-F84F-42CD-0075-66EF3DBC8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87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832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3AE01-70EC-06D6-E8CE-A5EE683E6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42D39-F089-45CD-4117-FF8937963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1CCD9-B1F3-AF49-B5A9-0EC116BB2E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4D6BB-E7AD-46D1-997D-CF26D99284C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37FA5-AD05-5D6F-9F01-1D93FDA3C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D5D0F-93AF-6250-277F-C1627F374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636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" name="Shape 1"/>
          <p:cNvSpPr/>
          <p:nvPr/>
        </p:nvSpPr>
        <p:spPr>
          <a:xfrm>
            <a:off x="0" y="146304"/>
            <a:ext cx="5120640" cy="6711696"/>
          </a:xfrm>
          <a:prstGeom prst="rect">
            <a:avLst/>
          </a:prstGeom>
          <a:solidFill>
            <a:srgbClr val="002060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" name="Shape 2"/>
          <p:cNvSpPr/>
          <p:nvPr/>
        </p:nvSpPr>
        <p:spPr>
          <a:xfrm>
            <a:off x="365760" y="5608320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792480" y="5608320"/>
            <a:ext cx="182880" cy="182880"/>
          </a:xfrm>
          <a:prstGeom prst="ellipse">
            <a:avLst/>
          </a:prstGeom>
          <a:solidFill>
            <a:srgbClr val="0E749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Shape 4"/>
          <p:cNvSpPr/>
          <p:nvPr/>
        </p:nvSpPr>
        <p:spPr>
          <a:xfrm>
            <a:off x="1219200" y="5608320"/>
            <a:ext cx="182880" cy="182880"/>
          </a:xfrm>
          <a:prstGeom prst="ellipse">
            <a:avLst/>
          </a:prstGeom>
          <a:solidFill>
            <a:srgbClr val="0E749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" name="Shape 5"/>
          <p:cNvSpPr/>
          <p:nvPr/>
        </p:nvSpPr>
        <p:spPr>
          <a:xfrm>
            <a:off x="1645920" y="5608320"/>
            <a:ext cx="182880" cy="182880"/>
          </a:xfrm>
          <a:prstGeom prst="ellipse">
            <a:avLst/>
          </a:prstGeom>
          <a:solidFill>
            <a:srgbClr val="0E749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" name="Shape 6"/>
          <p:cNvSpPr/>
          <p:nvPr/>
        </p:nvSpPr>
        <p:spPr>
          <a:xfrm>
            <a:off x="2072640" y="5608320"/>
            <a:ext cx="182880" cy="182880"/>
          </a:xfrm>
          <a:prstGeom prst="ellipse">
            <a:avLst/>
          </a:prstGeom>
          <a:solidFill>
            <a:srgbClr val="0E749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" name="Text 7"/>
          <p:cNvSpPr/>
          <p:nvPr/>
        </p:nvSpPr>
        <p:spPr>
          <a:xfrm>
            <a:off x="426720" y="1219200"/>
            <a:ext cx="43891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Auckland Road Crash</a:t>
            </a:r>
            <a:endParaRPr lang="en-US" sz="3467" dirty="0"/>
          </a:p>
        </p:txBody>
      </p:sp>
      <p:sp>
        <p:nvSpPr>
          <p:cNvPr id="10" name="Text 8"/>
          <p:cNvSpPr/>
          <p:nvPr/>
        </p:nvSpPr>
        <p:spPr>
          <a:xfrm>
            <a:off x="426720" y="2170176"/>
            <a:ext cx="43891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3467" dirty="0"/>
          </a:p>
        </p:txBody>
      </p:sp>
      <p:sp>
        <p:nvSpPr>
          <p:cNvPr id="11" name="Shape 9"/>
          <p:cNvSpPr/>
          <p:nvPr/>
        </p:nvSpPr>
        <p:spPr>
          <a:xfrm>
            <a:off x="426720" y="3048000"/>
            <a:ext cx="1706880" cy="60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2" name="Text 10"/>
          <p:cNvSpPr/>
          <p:nvPr/>
        </p:nvSpPr>
        <p:spPr>
          <a:xfrm>
            <a:off x="426720" y="3230880"/>
            <a:ext cx="43891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Project</a:t>
            </a:r>
            <a:endParaRPr lang="en-US" sz="1600" dirty="0"/>
          </a:p>
          <a:p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Implementation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6720" y="4267200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Umrikar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426720" y="4693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5486400" y="426720"/>
            <a:ext cx="6339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867" dirty="0"/>
          </a:p>
        </p:txBody>
      </p:sp>
      <p:sp>
        <p:nvSpPr>
          <p:cNvPr id="16" name="Shape 14"/>
          <p:cNvSpPr/>
          <p:nvPr/>
        </p:nvSpPr>
        <p:spPr>
          <a:xfrm>
            <a:off x="5486400" y="1097280"/>
            <a:ext cx="2987040" cy="14020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5632704" y="1146048"/>
            <a:ext cx="27432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38BDF8"/>
                </a:solidFill>
              </a:rPr>
              <a:t>111,657</a:t>
            </a:r>
            <a:endParaRPr lang="en-US" sz="3733" dirty="0"/>
          </a:p>
        </p:txBody>
      </p:sp>
      <p:sp>
        <p:nvSpPr>
          <p:cNvPr id="18" name="Text 16"/>
          <p:cNvSpPr/>
          <p:nvPr/>
        </p:nvSpPr>
        <p:spPr>
          <a:xfrm>
            <a:off x="5583936" y="1901952"/>
            <a:ext cx="279196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</a:rPr>
              <a:t>Crash Records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17280" y="1097280"/>
            <a:ext cx="2987040" cy="14020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0" name="Text 18"/>
          <p:cNvSpPr/>
          <p:nvPr/>
        </p:nvSpPr>
        <p:spPr>
          <a:xfrm>
            <a:off x="8863584" y="1146048"/>
            <a:ext cx="27432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0E7490"/>
                </a:solidFill>
              </a:rPr>
              <a:t>2015–2025</a:t>
            </a:r>
            <a:endParaRPr lang="en-US" sz="3733" dirty="0"/>
          </a:p>
        </p:txBody>
      </p:sp>
      <p:sp>
        <p:nvSpPr>
          <p:cNvPr id="21" name="Text 19"/>
          <p:cNvSpPr/>
          <p:nvPr/>
        </p:nvSpPr>
        <p:spPr>
          <a:xfrm>
            <a:off x="8814816" y="1901952"/>
            <a:ext cx="279196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</a:rPr>
              <a:t>Data Period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0" y="2682240"/>
            <a:ext cx="2987040" cy="14020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3" name="Text 21"/>
          <p:cNvSpPr/>
          <p:nvPr/>
        </p:nvSpPr>
        <p:spPr>
          <a:xfrm>
            <a:off x="5632704" y="2731008"/>
            <a:ext cx="27432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38BDF8"/>
                </a:solidFill>
              </a:rPr>
              <a:t>10 Years</a:t>
            </a:r>
            <a:endParaRPr lang="en-US" sz="3733" dirty="0"/>
          </a:p>
        </p:txBody>
      </p:sp>
      <p:sp>
        <p:nvSpPr>
          <p:cNvPr id="24" name="Text 22"/>
          <p:cNvSpPr/>
          <p:nvPr/>
        </p:nvSpPr>
        <p:spPr>
          <a:xfrm>
            <a:off x="5583936" y="3486912"/>
            <a:ext cx="279196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</a:rPr>
              <a:t>Historical Span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17280" y="2682240"/>
            <a:ext cx="2987040" cy="14020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6" name="Text 24"/>
          <p:cNvSpPr/>
          <p:nvPr/>
        </p:nvSpPr>
        <p:spPr>
          <a:xfrm>
            <a:off x="8863584" y="2731008"/>
            <a:ext cx="27432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0E7490"/>
                </a:solidFill>
              </a:rPr>
              <a:t>9 Notebooks</a:t>
            </a:r>
            <a:endParaRPr lang="en-US" sz="3733" dirty="0"/>
          </a:p>
        </p:txBody>
      </p:sp>
      <p:sp>
        <p:nvSpPr>
          <p:cNvPr id="27" name="Text 25"/>
          <p:cNvSpPr/>
          <p:nvPr/>
        </p:nvSpPr>
        <p:spPr>
          <a:xfrm>
            <a:off x="8814816" y="3486912"/>
            <a:ext cx="279196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</a:rPr>
              <a:t>Fabric Pipeline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0" y="4267200"/>
            <a:ext cx="2987040" cy="14020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9" name="Text 27"/>
          <p:cNvSpPr/>
          <p:nvPr/>
        </p:nvSpPr>
        <p:spPr>
          <a:xfrm>
            <a:off x="5632704" y="4315968"/>
            <a:ext cx="27432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38BDF8"/>
                </a:solidFill>
              </a:rPr>
              <a:t>9 Gold Tables</a:t>
            </a:r>
            <a:endParaRPr lang="en-US" sz="3733" dirty="0"/>
          </a:p>
        </p:txBody>
      </p:sp>
      <p:sp>
        <p:nvSpPr>
          <p:cNvPr id="30" name="Text 28"/>
          <p:cNvSpPr/>
          <p:nvPr/>
        </p:nvSpPr>
        <p:spPr>
          <a:xfrm>
            <a:off x="5583936" y="5071872"/>
            <a:ext cx="279196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</a:rPr>
              <a:t>Delta Lake Output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717280" y="4267200"/>
            <a:ext cx="2987040" cy="14020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2" name="Text 30"/>
          <p:cNvSpPr/>
          <p:nvPr/>
        </p:nvSpPr>
        <p:spPr>
          <a:xfrm>
            <a:off x="8863584" y="4315968"/>
            <a:ext cx="27432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F59E0B"/>
                </a:solidFill>
              </a:rPr>
              <a:t>12 Recs</a:t>
            </a:r>
            <a:endParaRPr lang="en-US" sz="3733" dirty="0"/>
          </a:p>
        </p:txBody>
      </p:sp>
      <p:sp>
        <p:nvSpPr>
          <p:cNvPr id="33" name="Text 31"/>
          <p:cNvSpPr/>
          <p:nvPr/>
        </p:nvSpPr>
        <p:spPr>
          <a:xfrm>
            <a:off x="8814816" y="5071872"/>
            <a:ext cx="279196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</a:rPr>
              <a:t>Business Actions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486144"/>
            <a:ext cx="12192000" cy="365760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5" name="Text 33"/>
          <p:cNvSpPr/>
          <p:nvPr/>
        </p:nvSpPr>
        <p:spPr>
          <a:xfrm>
            <a:off x="365760" y="6498336"/>
            <a:ext cx="114604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NZTA Crash Analysis System (CAS) · Microsoft Fabric · Power BI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0B0AB4-7F61-AF64-01A1-10D4EB632576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24FA3A-2302-8B62-D29E-3C8F3CC5333C}"/>
              </a:ext>
            </a:extLst>
          </p:cNvPr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F42015A-528C-132A-1075-AEDFC95F5FD9}"/>
              </a:ext>
            </a:extLst>
          </p:cNvPr>
          <p:cNvSpPr/>
          <p:nvPr/>
        </p:nvSpPr>
        <p:spPr>
          <a:xfrm>
            <a:off x="365760" y="1280160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4C4FD14-D320-887E-AA41-BDA4CDAF3078}"/>
              </a:ext>
            </a:extLst>
          </p:cNvPr>
          <p:cNvSpPr/>
          <p:nvPr/>
        </p:nvSpPr>
        <p:spPr>
          <a:xfrm>
            <a:off x="365760" y="1280160"/>
            <a:ext cx="50292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37BC988-37C6-1E2B-C3C2-918A443ED7A7}"/>
              </a:ext>
            </a:extLst>
          </p:cNvPr>
          <p:cNvSpPr/>
          <p:nvPr/>
        </p:nvSpPr>
        <p:spPr>
          <a:xfrm>
            <a:off x="365760" y="12801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F2052FA-4F85-4436-03E0-8407EB07ABE6}"/>
              </a:ext>
            </a:extLst>
          </p:cNvPr>
          <p:cNvSpPr/>
          <p:nvPr/>
        </p:nvSpPr>
        <p:spPr>
          <a:xfrm>
            <a:off x="960120" y="128016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🏙️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D9D688-BA1C-8179-6143-CEF2E4CF9CF0}"/>
              </a:ext>
            </a:extLst>
          </p:cNvPr>
          <p:cNvSpPr/>
          <p:nvPr/>
        </p:nvSpPr>
        <p:spPr>
          <a:xfrm>
            <a:off x="1508760" y="13167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Problem &amp; Context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D8ECE65-014E-3276-F89A-A4B21EC2CCE8}"/>
              </a:ext>
            </a:extLst>
          </p:cNvPr>
          <p:cNvSpPr/>
          <p:nvPr/>
        </p:nvSpPr>
        <p:spPr>
          <a:xfrm>
            <a:off x="1508760" y="16093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Auckland crash data matters and what gap this project fills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5AAE4E8-439F-766B-6641-B6889B0A3384}"/>
              </a:ext>
            </a:extLst>
          </p:cNvPr>
          <p:cNvSpPr/>
          <p:nvPr/>
        </p:nvSpPr>
        <p:spPr>
          <a:xfrm>
            <a:off x="11247120" y="12801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9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4EE8192-AE06-C191-142D-18A98BD12B7E}"/>
              </a:ext>
            </a:extLst>
          </p:cNvPr>
          <p:cNvSpPr/>
          <p:nvPr/>
        </p:nvSpPr>
        <p:spPr>
          <a:xfrm>
            <a:off x="365760" y="2039112"/>
            <a:ext cx="114300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E4D58AB-2F2B-13FC-B329-27CFF58F8315}"/>
              </a:ext>
            </a:extLst>
          </p:cNvPr>
          <p:cNvSpPr/>
          <p:nvPr/>
        </p:nvSpPr>
        <p:spPr>
          <a:xfrm>
            <a:off x="365760" y="2039112"/>
            <a:ext cx="50292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F98C6EF-458C-E875-8C20-03D5C6A6287B}"/>
              </a:ext>
            </a:extLst>
          </p:cNvPr>
          <p:cNvSpPr/>
          <p:nvPr/>
        </p:nvSpPr>
        <p:spPr>
          <a:xfrm>
            <a:off x="365760" y="20391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9A81035-B8AE-F3AF-1363-AA2066838D76}"/>
              </a:ext>
            </a:extLst>
          </p:cNvPr>
          <p:cNvSpPr/>
          <p:nvPr/>
        </p:nvSpPr>
        <p:spPr>
          <a:xfrm>
            <a:off x="960120" y="203911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4FC735A-4382-6F42-DCF3-1BD29F72B20A}"/>
              </a:ext>
            </a:extLst>
          </p:cNvPr>
          <p:cNvSpPr/>
          <p:nvPr/>
        </p:nvSpPr>
        <p:spPr>
          <a:xfrm>
            <a:off x="1508760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&amp; Limitations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77CCA11-7778-78C9-3C49-A8F9919821BE}"/>
              </a:ext>
            </a:extLst>
          </p:cNvPr>
          <p:cNvSpPr/>
          <p:nvPr/>
        </p:nvSpPr>
        <p:spPr>
          <a:xfrm>
            <a:off x="1508760" y="23682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System, CRISP-DM, Nielsen — what worked and what didn't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1ED843F-16A1-07AE-C187-66196F1CAB6E}"/>
              </a:ext>
            </a:extLst>
          </p:cNvPr>
          <p:cNvSpPr/>
          <p:nvPr/>
        </p:nvSpPr>
        <p:spPr>
          <a:xfrm>
            <a:off x="11247120" y="203911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63ED783-CB4A-0DEF-1F93-5A8AFA026B7B}"/>
              </a:ext>
            </a:extLst>
          </p:cNvPr>
          <p:cNvSpPr/>
          <p:nvPr/>
        </p:nvSpPr>
        <p:spPr>
          <a:xfrm>
            <a:off x="365760" y="2798064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018106C-5294-1EA6-A5DC-53DD52A65849}"/>
              </a:ext>
            </a:extLst>
          </p:cNvPr>
          <p:cNvSpPr/>
          <p:nvPr/>
        </p:nvSpPr>
        <p:spPr>
          <a:xfrm>
            <a:off x="365760" y="2798064"/>
            <a:ext cx="50292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E450309-280A-D158-AE30-9E6A8829C625}"/>
              </a:ext>
            </a:extLst>
          </p:cNvPr>
          <p:cNvSpPr/>
          <p:nvPr/>
        </p:nvSpPr>
        <p:spPr>
          <a:xfrm>
            <a:off x="365760" y="279806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294E2CA-6994-E0FD-D0FD-4943C6BF5111}"/>
              </a:ext>
            </a:extLst>
          </p:cNvPr>
          <p:cNvSpPr/>
          <p:nvPr/>
        </p:nvSpPr>
        <p:spPr>
          <a:xfrm>
            <a:off x="960120" y="279806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E1DEB92-D359-2C31-D31A-48B08BB95890}"/>
              </a:ext>
            </a:extLst>
          </p:cNvPr>
          <p:cNvSpPr/>
          <p:nvPr/>
        </p:nvSpPr>
        <p:spPr>
          <a:xfrm>
            <a:off x="150876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550F6DF-E3CD-7168-C540-75FEA2538ACC}"/>
              </a:ext>
            </a:extLst>
          </p:cNvPr>
          <p:cNvSpPr/>
          <p:nvPr/>
        </p:nvSpPr>
        <p:spPr>
          <a:xfrm>
            <a:off x="1508760" y="3127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was collected, cleaned, and analysed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4ACC761-8416-1E4E-8362-5F5058E0445C}"/>
              </a:ext>
            </a:extLst>
          </p:cNvPr>
          <p:cNvSpPr/>
          <p:nvPr/>
        </p:nvSpPr>
        <p:spPr>
          <a:xfrm>
            <a:off x="11247120" y="279806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F30F92B-2322-0CD7-91E2-4BF7DC2FF735}"/>
              </a:ext>
            </a:extLst>
          </p:cNvPr>
          <p:cNvSpPr/>
          <p:nvPr/>
        </p:nvSpPr>
        <p:spPr>
          <a:xfrm>
            <a:off x="365760" y="3557016"/>
            <a:ext cx="114300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DA35306-5CFA-F381-DD1C-378C8AFFCB4E}"/>
              </a:ext>
            </a:extLst>
          </p:cNvPr>
          <p:cNvSpPr/>
          <p:nvPr/>
        </p:nvSpPr>
        <p:spPr>
          <a:xfrm>
            <a:off x="365760" y="3557016"/>
            <a:ext cx="50292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17656E2-D6E1-3FED-005A-9B3160BBC66F}"/>
              </a:ext>
            </a:extLst>
          </p:cNvPr>
          <p:cNvSpPr/>
          <p:nvPr/>
        </p:nvSpPr>
        <p:spPr>
          <a:xfrm>
            <a:off x="365760" y="355701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3680013-2316-BF94-482F-BA4A89582BCD}"/>
              </a:ext>
            </a:extLst>
          </p:cNvPr>
          <p:cNvSpPr/>
          <p:nvPr/>
        </p:nvSpPr>
        <p:spPr>
          <a:xfrm>
            <a:off x="960120" y="355701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34DC721-3193-369C-835D-0AFB7516C6BF}"/>
              </a:ext>
            </a:extLst>
          </p:cNvPr>
          <p:cNvSpPr/>
          <p:nvPr/>
        </p:nvSpPr>
        <p:spPr>
          <a:xfrm>
            <a:off x="1508760" y="35935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226EBBD-74B3-970B-AAC5-BEA3B528ECE4}"/>
              </a:ext>
            </a:extLst>
          </p:cNvPr>
          <p:cNvSpPr/>
          <p:nvPr/>
        </p:nvSpPr>
        <p:spPr>
          <a:xfrm>
            <a:off x="150876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analytical streams: geospatial, ML, temporal, vulnerable users</a:t>
            </a:r>
            <a:endParaRPr lang="en-US" sz="1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97D991D-0760-6F22-A6A1-1703F83FA2EE}"/>
              </a:ext>
            </a:extLst>
          </p:cNvPr>
          <p:cNvSpPr/>
          <p:nvPr/>
        </p:nvSpPr>
        <p:spPr>
          <a:xfrm>
            <a:off x="11247120" y="355701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D7643C8-0C32-130A-2A71-83A5A9197E0E}"/>
              </a:ext>
            </a:extLst>
          </p:cNvPr>
          <p:cNvSpPr/>
          <p:nvPr/>
        </p:nvSpPr>
        <p:spPr>
          <a:xfrm>
            <a:off x="365760" y="4315968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277EE04F-236D-A3A7-EFC3-9CC295649B48}"/>
              </a:ext>
            </a:extLst>
          </p:cNvPr>
          <p:cNvSpPr/>
          <p:nvPr/>
        </p:nvSpPr>
        <p:spPr>
          <a:xfrm>
            <a:off x="365760" y="4315968"/>
            <a:ext cx="50292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6E7DD71-6BC8-207D-83D4-527F632280DA}"/>
              </a:ext>
            </a:extLst>
          </p:cNvPr>
          <p:cNvSpPr/>
          <p:nvPr/>
        </p:nvSpPr>
        <p:spPr>
          <a:xfrm>
            <a:off x="365760" y="431596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F0ED183-2E8F-6F92-BF12-E65DC25171B6}"/>
              </a:ext>
            </a:extLst>
          </p:cNvPr>
          <p:cNvSpPr/>
          <p:nvPr/>
        </p:nvSpPr>
        <p:spPr>
          <a:xfrm>
            <a:off x="960120" y="431596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CFEFCB8-D585-ACA7-D380-9F338653F987}"/>
              </a:ext>
            </a:extLst>
          </p:cNvPr>
          <p:cNvSpPr/>
          <p:nvPr/>
        </p:nvSpPr>
        <p:spPr>
          <a:xfrm>
            <a:off x="1508760" y="43525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Recommendations</a:t>
            </a:r>
            <a:endParaRPr lang="en-US" sz="13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68BED42-78F6-046C-E2EA-1E2799B0C514}"/>
              </a:ext>
            </a:extLst>
          </p:cNvPr>
          <p:cNvSpPr/>
          <p:nvPr/>
        </p:nvSpPr>
        <p:spPr>
          <a:xfrm>
            <a:off x="1508760" y="4645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evidence-based actions with NZD ROI estimates</a:t>
            </a:r>
            <a:endParaRPr lang="en-US" sz="10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0C95E73-2771-41F5-C725-6B44026B2DDE}"/>
              </a:ext>
            </a:extLst>
          </p:cNvPr>
          <p:cNvSpPr/>
          <p:nvPr/>
        </p:nvSpPr>
        <p:spPr>
          <a:xfrm>
            <a:off x="11247120" y="431596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3103A76-3408-94A3-D8AE-CD6DD8F133F3}"/>
              </a:ext>
            </a:extLst>
          </p:cNvPr>
          <p:cNvSpPr/>
          <p:nvPr/>
        </p:nvSpPr>
        <p:spPr>
          <a:xfrm>
            <a:off x="365760" y="5074920"/>
            <a:ext cx="114300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7D332B1A-1ABE-7CC5-98F1-DE7566EA70D1}"/>
              </a:ext>
            </a:extLst>
          </p:cNvPr>
          <p:cNvSpPr/>
          <p:nvPr/>
        </p:nvSpPr>
        <p:spPr>
          <a:xfrm>
            <a:off x="365760" y="5074920"/>
            <a:ext cx="50292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72021F4F-4B84-D468-96FA-ABA01E4AA8AD}"/>
              </a:ext>
            </a:extLst>
          </p:cNvPr>
          <p:cNvSpPr/>
          <p:nvPr/>
        </p:nvSpPr>
        <p:spPr>
          <a:xfrm>
            <a:off x="365760" y="50749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063962C-7670-D1DD-4FDC-BA303A6F605F}"/>
              </a:ext>
            </a:extLst>
          </p:cNvPr>
          <p:cNvSpPr/>
          <p:nvPr/>
        </p:nvSpPr>
        <p:spPr>
          <a:xfrm>
            <a:off x="960120" y="50749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12EF271-AEA0-9040-5DD8-E677FE8EB5D3}"/>
              </a:ext>
            </a:extLst>
          </p:cNvPr>
          <p:cNvSpPr/>
          <p:nvPr/>
        </p:nvSpPr>
        <p:spPr>
          <a:xfrm>
            <a:off x="1508760" y="51114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Cultural Safeguards</a:t>
            </a:r>
            <a:endParaRPr lang="en-US" sz="13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FBDCC6CF-A15C-393D-5147-63879873A170}"/>
              </a:ext>
            </a:extLst>
          </p:cNvPr>
          <p:cNvSpPr/>
          <p:nvPr/>
        </p:nvSpPr>
        <p:spPr>
          <a:xfrm>
            <a:off x="1508760" y="54041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governance, Te Tiriti, bias, mitigation strategies</a:t>
            </a:r>
            <a:endParaRPr lang="en-US" sz="10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3973C91-8F95-DC7D-02AC-0620620D088D}"/>
              </a:ext>
            </a:extLst>
          </p:cNvPr>
          <p:cNvSpPr/>
          <p:nvPr/>
        </p:nvSpPr>
        <p:spPr>
          <a:xfrm>
            <a:off x="11247120" y="507492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4B767EEF-C037-C3A3-D993-4438BEF7B40E}"/>
              </a:ext>
            </a:extLst>
          </p:cNvPr>
          <p:cNvSpPr/>
          <p:nvPr/>
        </p:nvSpPr>
        <p:spPr>
          <a:xfrm>
            <a:off x="365760" y="5833872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DFE9F50A-B6BF-4321-7A2B-F08DDE86F353}"/>
              </a:ext>
            </a:extLst>
          </p:cNvPr>
          <p:cNvSpPr/>
          <p:nvPr/>
        </p:nvSpPr>
        <p:spPr>
          <a:xfrm>
            <a:off x="365760" y="5833872"/>
            <a:ext cx="50292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37AF998B-20C8-E1D8-FB29-DFEE133AF3FA}"/>
              </a:ext>
            </a:extLst>
          </p:cNvPr>
          <p:cNvSpPr/>
          <p:nvPr/>
        </p:nvSpPr>
        <p:spPr>
          <a:xfrm>
            <a:off x="365760" y="583387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096DB3D7-63F7-4AD3-A0F2-F5931549CE22}"/>
              </a:ext>
            </a:extLst>
          </p:cNvPr>
          <p:cNvSpPr/>
          <p:nvPr/>
        </p:nvSpPr>
        <p:spPr>
          <a:xfrm>
            <a:off x="960120" y="583387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B0A8AE3D-4A5C-CE19-0126-132EFD98C06A}"/>
              </a:ext>
            </a:extLst>
          </p:cNvPr>
          <p:cNvSpPr/>
          <p:nvPr/>
        </p:nvSpPr>
        <p:spPr>
          <a:xfrm>
            <a:off x="1508760" y="5870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3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BB97121E-0474-04FD-00B2-F111BBECBBB4}"/>
              </a:ext>
            </a:extLst>
          </p:cNvPr>
          <p:cNvSpPr/>
          <p:nvPr/>
        </p:nvSpPr>
        <p:spPr>
          <a:xfrm>
            <a:off x="1508760" y="6163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Contributions, limitations, future research</a:t>
            </a:r>
            <a:endParaRPr lang="en-US" sz="10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4124B98E-F1B1-1370-C62B-8DF7DCCE5EC0}"/>
              </a:ext>
            </a:extLst>
          </p:cNvPr>
          <p:cNvSpPr/>
          <p:nvPr/>
        </p:nvSpPr>
        <p:spPr>
          <a:xfrm>
            <a:off x="11247120" y="583387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0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978AAD5A-257F-B68D-AA11-238A449D86CD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8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F81136E8-C506-E800-41E4-C0E02897FC2F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8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CEA9D530-96FC-FFA0-3F52-DB3CF4143CD4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084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9DAF82-AD91-B5D6-1FDD-D340EFE5B19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4869AF-6341-BAF4-3B5A-2AB889F2555C}"/>
              </a:ext>
            </a:extLst>
          </p:cNvPr>
          <p:cNvSpPr/>
          <p:nvPr/>
        </p:nvSpPr>
        <p:spPr>
          <a:xfrm>
            <a:off x="457200" y="2286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Industry Problem &amp; Context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82C8846-8419-BE5C-C07F-09209F630781}"/>
              </a:ext>
            </a:extLst>
          </p:cNvPr>
          <p:cNvSpPr/>
          <p:nvPr/>
        </p:nvSpPr>
        <p:spPr>
          <a:xfrm>
            <a:off x="365760" y="822960"/>
            <a:ext cx="557784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74DCD92-D2F3-BE3E-6F02-F7C5EA50E4D2}"/>
              </a:ext>
            </a:extLst>
          </p:cNvPr>
          <p:cNvSpPr/>
          <p:nvPr/>
        </p:nvSpPr>
        <p:spPr>
          <a:xfrm>
            <a:off x="365760" y="822960"/>
            <a:ext cx="557784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97E0C4-7D4E-889B-AD8F-656B0BD1D94B}"/>
              </a:ext>
            </a:extLst>
          </p:cNvPr>
          <p:cNvSpPr/>
          <p:nvPr/>
        </p:nvSpPr>
        <p:spPr>
          <a:xfrm>
            <a:off x="457200" y="822960"/>
            <a:ext cx="53949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FFF1DF8-53C0-6D65-F195-A1A622F82AD5}"/>
              </a:ext>
            </a:extLst>
          </p:cNvPr>
          <p:cNvSpPr/>
          <p:nvPr/>
        </p:nvSpPr>
        <p:spPr>
          <a:xfrm>
            <a:off x="5029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CFA5E8-CFDF-527F-96A1-58ED3BF7CE88}"/>
              </a:ext>
            </a:extLst>
          </p:cNvPr>
          <p:cNvSpPr/>
          <p:nvPr/>
        </p:nvSpPr>
        <p:spPr>
          <a:xfrm>
            <a:off x="1005840" y="13898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use of CAS data for spatial + ML analysis in Auckland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0FD8155-143F-072D-8B51-5F5EBE27770A}"/>
              </a:ext>
            </a:extLst>
          </p:cNvPr>
          <p:cNvSpPr/>
          <p:nvPr/>
        </p:nvSpPr>
        <p:spPr>
          <a:xfrm>
            <a:off x="1005840" y="16459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Auckland Transport lacks integrated crash intelligence tools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EF772C7-5CED-30B6-2386-BE962B75E325}"/>
              </a:ext>
            </a:extLst>
          </p:cNvPr>
          <p:cNvSpPr/>
          <p:nvPr/>
        </p:nvSpPr>
        <p:spPr>
          <a:xfrm>
            <a:off x="50292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A533BFE-1840-9FC5-9524-603A381DD9DC}"/>
              </a:ext>
            </a:extLst>
          </p:cNvPr>
          <p:cNvSpPr/>
          <p:nvPr/>
        </p:nvSpPr>
        <p:spPr>
          <a:xfrm>
            <a:off x="1005840" y="22311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NZD 4B+ annual social cost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651F792-534E-7F44-BFCF-74179935FAEE}"/>
              </a:ext>
            </a:extLst>
          </p:cNvPr>
          <p:cNvSpPr/>
          <p:nvPr/>
        </p:nvSpPr>
        <p:spPr>
          <a:xfrm>
            <a:off x="1005840" y="24871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fatality = NZD 4.84M; each serious injury = NZD 662K (NZTA, 2024)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2F214F8-59FB-8692-59EA-D4D0E6F79211}"/>
              </a:ext>
            </a:extLst>
          </p:cNvPr>
          <p:cNvSpPr/>
          <p:nvPr/>
        </p:nvSpPr>
        <p:spPr>
          <a:xfrm>
            <a:off x="50292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E4B024E-B467-7DDF-8D4A-A28766971286}"/>
              </a:ext>
            </a:extLst>
          </p:cNvPr>
          <p:cNvSpPr/>
          <p:nvPr/>
        </p:nvSpPr>
        <p:spPr>
          <a:xfrm>
            <a:off x="1005840" y="30723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to Zero: -40% deaths/injuries by 2030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47D9DF3-0ACB-4FF3-3B9A-5B94A889A1B2}"/>
              </a:ext>
            </a:extLst>
          </p:cNvPr>
          <p:cNvSpPr/>
          <p:nvPr/>
        </p:nvSpPr>
        <p:spPr>
          <a:xfrm>
            <a:off x="1005840" y="332841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intervention prioritisation is essential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BCD6E9-D1FF-5B70-006F-F76135BCA24E}"/>
              </a:ext>
            </a:extLst>
          </p:cNvPr>
          <p:cNvSpPr/>
          <p:nvPr/>
        </p:nvSpPr>
        <p:spPr>
          <a:xfrm>
            <a:off x="50292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AFF3C3C-2BE5-3246-AE45-2632CC1E9C20}"/>
              </a:ext>
            </a:extLst>
          </p:cNvPr>
          <p:cNvSpPr/>
          <p:nvPr/>
        </p:nvSpPr>
        <p:spPr>
          <a:xfrm>
            <a:off x="1005840" y="39136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111,657 Auckland crashes (2015-2025)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BB02672-568B-A703-35B6-1EE96A17B7B0}"/>
              </a:ext>
            </a:extLst>
          </p:cNvPr>
          <p:cNvSpPr/>
          <p:nvPr/>
        </p:nvSpPr>
        <p:spPr>
          <a:xfrm>
            <a:off x="1005840" y="416966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 result in fatal or serious injury — but WHERE and WHY?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4584E5B-097F-2F77-7D50-38EA3600E2CA}"/>
              </a:ext>
            </a:extLst>
          </p:cNvPr>
          <p:cNvSpPr/>
          <p:nvPr/>
        </p:nvSpPr>
        <p:spPr>
          <a:xfrm>
            <a:off x="502920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E6FB5C4-0C14-5C0C-2261-399EF8EAABF9}"/>
              </a:ext>
            </a:extLst>
          </p:cNvPr>
          <p:cNvSpPr/>
          <p:nvPr/>
        </p:nvSpPr>
        <p:spPr>
          <a:xfrm>
            <a:off x="1005840" y="4754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users at 8.95× higher risk</a:t>
            </a:r>
            <a:endParaRPr lang="en-US" sz="1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898744C-3F7F-90D1-5903-4E910E23DA7C}"/>
              </a:ext>
            </a:extLst>
          </p:cNvPr>
          <p:cNvSpPr/>
          <p:nvPr/>
        </p:nvSpPr>
        <p:spPr>
          <a:xfrm>
            <a:off x="1005840" y="501091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Pedestrians, cyclists, motorcyclists severely underprotected</a:t>
            </a: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2B9CF6D-384D-5E9A-3013-54679309AE2D}"/>
              </a:ext>
            </a:extLst>
          </p:cNvPr>
          <p:cNvSpPr/>
          <p:nvPr/>
        </p:nvSpPr>
        <p:spPr>
          <a:xfrm>
            <a:off x="6217920" y="822960"/>
            <a:ext cx="5577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2FE8B8B-DEE5-34FF-9B27-1AD086117E84}"/>
              </a:ext>
            </a:extLst>
          </p:cNvPr>
          <p:cNvSpPr/>
          <p:nvPr/>
        </p:nvSpPr>
        <p:spPr>
          <a:xfrm>
            <a:off x="6217920" y="822960"/>
            <a:ext cx="557784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D6672AB-C64A-2DBB-3D28-213D8868BC5A}"/>
              </a:ext>
            </a:extLst>
          </p:cNvPr>
          <p:cNvSpPr/>
          <p:nvPr/>
        </p:nvSpPr>
        <p:spPr>
          <a:xfrm>
            <a:off x="6309360" y="822960"/>
            <a:ext cx="53949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BA22A9D-0A20-36FB-8B70-11C79E6C5D18}"/>
              </a:ext>
            </a:extLst>
          </p:cNvPr>
          <p:cNvSpPr/>
          <p:nvPr/>
        </p:nvSpPr>
        <p:spPr>
          <a:xfrm>
            <a:off x="6309360" y="1298448"/>
            <a:ext cx="530352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NZTA CAS WGS84 2015-2025
</a:t>
            </a: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(Medallion Architecture)
</a:t>
            </a: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scikit-learn, XGBoost, SHAP, folium, Power BI
</a:t>
            </a: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NZTA, Auckland Transport</a:t>
            </a:r>
            <a:endParaRPr lang="en-US" sz="11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C001F95-FFB4-A88F-0D77-CA1C68773AA5}"/>
              </a:ext>
            </a:extLst>
          </p:cNvPr>
          <p:cNvSpPr/>
          <p:nvPr/>
        </p:nvSpPr>
        <p:spPr>
          <a:xfrm>
            <a:off x="6217920" y="3200400"/>
            <a:ext cx="5577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86FEE9A-2C0B-3C2E-C53D-51D378BD5B5B}"/>
              </a:ext>
            </a:extLst>
          </p:cNvPr>
          <p:cNvSpPr/>
          <p:nvPr/>
        </p:nvSpPr>
        <p:spPr>
          <a:xfrm>
            <a:off x="6217920" y="3200400"/>
            <a:ext cx="557784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E8375A7-18E1-AC8E-EFCD-A1CF927F83AC}"/>
              </a:ext>
            </a:extLst>
          </p:cNvPr>
          <p:cNvSpPr/>
          <p:nvPr/>
        </p:nvSpPr>
        <p:spPr>
          <a:xfrm>
            <a:off x="6309360" y="3200400"/>
            <a:ext cx="53949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3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1A516DF-962C-D5B4-1BE3-99CBC642E9A5}"/>
              </a:ext>
            </a:extLst>
          </p:cNvPr>
          <p:cNvSpPr/>
          <p:nvPr/>
        </p:nvSpPr>
        <p:spPr>
          <a:xfrm>
            <a:off x="6355080" y="3721608"/>
            <a:ext cx="411480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FC032DF-B820-749C-2ED0-03CA03DBD9FD}"/>
              </a:ext>
            </a:extLst>
          </p:cNvPr>
          <p:cNvSpPr/>
          <p:nvPr/>
        </p:nvSpPr>
        <p:spPr>
          <a:xfrm>
            <a:off x="6355080" y="372160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9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11451C6-90E0-19E8-C6E7-CC3D527FA47E}"/>
              </a:ext>
            </a:extLst>
          </p:cNvPr>
          <p:cNvSpPr/>
          <p:nvPr/>
        </p:nvSpPr>
        <p:spPr>
          <a:xfrm>
            <a:off x="6858000" y="373989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Auckland's statistically significant crash hotspots?</a:t>
            </a:r>
            <a:endParaRPr lang="en-US" sz="1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AF651FE-29B9-B50A-96B6-67CDF23C8089}"/>
              </a:ext>
            </a:extLst>
          </p:cNvPr>
          <p:cNvSpPr/>
          <p:nvPr/>
        </p:nvSpPr>
        <p:spPr>
          <a:xfrm>
            <a:off x="6355080" y="4251960"/>
            <a:ext cx="411480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93B0B8C-2148-DD14-17F4-237ABC473141}"/>
              </a:ext>
            </a:extLst>
          </p:cNvPr>
          <p:cNvSpPr/>
          <p:nvPr/>
        </p:nvSpPr>
        <p:spPr>
          <a:xfrm>
            <a:off x="6355080" y="425196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9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A09267E-5E0E-EAD3-5309-E92CBA092A39}"/>
              </a:ext>
            </a:extLst>
          </p:cNvPr>
          <p:cNvSpPr/>
          <p:nvPr/>
        </p:nvSpPr>
        <p:spPr>
          <a:xfrm>
            <a:off x="6858000" y="427024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ML reliably predict crash severity from road &amp; environment data?</a:t>
            </a:r>
            <a:endParaRPr lang="en-US" sz="10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3AA53F1-1EEF-A85F-8738-28717BC3A928}"/>
              </a:ext>
            </a:extLst>
          </p:cNvPr>
          <p:cNvSpPr/>
          <p:nvPr/>
        </p:nvSpPr>
        <p:spPr>
          <a:xfrm>
            <a:off x="6355080" y="4782312"/>
            <a:ext cx="411480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F0ADB820-8CCB-01EE-E7CF-5F64722CB332}"/>
              </a:ext>
            </a:extLst>
          </p:cNvPr>
          <p:cNvSpPr/>
          <p:nvPr/>
        </p:nvSpPr>
        <p:spPr>
          <a:xfrm>
            <a:off x="6355080" y="4782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9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DDBD36E-0791-B126-5303-1CAE9AD57487}"/>
              </a:ext>
            </a:extLst>
          </p:cNvPr>
          <p:cNvSpPr/>
          <p:nvPr/>
        </p:nvSpPr>
        <p:spPr>
          <a:xfrm>
            <a:off x="6858000" y="48006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holiday periods significantly affect crash severity?</a:t>
            </a:r>
            <a:endParaRPr lang="en-US" sz="10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E24A922-D9FB-C789-3DFF-84E4A5DE5DC4}"/>
              </a:ext>
            </a:extLst>
          </p:cNvPr>
          <p:cNvSpPr/>
          <p:nvPr/>
        </p:nvSpPr>
        <p:spPr>
          <a:xfrm>
            <a:off x="6355080" y="5312664"/>
            <a:ext cx="411480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0FBAFAF2-2F6D-36FD-BDE4-F27CF9EF620F}"/>
              </a:ext>
            </a:extLst>
          </p:cNvPr>
          <p:cNvSpPr/>
          <p:nvPr/>
        </p:nvSpPr>
        <p:spPr>
          <a:xfrm>
            <a:off x="6355080" y="531266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9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C34A35C5-380F-FBB6-9CCE-B014520E87B9}"/>
              </a:ext>
            </a:extLst>
          </p:cNvPr>
          <p:cNvSpPr/>
          <p:nvPr/>
        </p:nvSpPr>
        <p:spPr>
          <a:xfrm>
            <a:off x="6858000" y="533095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most predict severe outcomes for vulnerable users?</a:t>
            </a:r>
            <a:endParaRPr lang="en-US" sz="10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CE26DD08-30EE-969F-8FB9-C43534A542DD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8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5640545A-DD48-60B0-B338-DBEE4920686B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8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3E645421-B483-CDBF-6F2F-9CCE193E94A2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927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E8ED9E-CF5A-3D16-D00C-DE347AC35ED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DDFD40-3E63-3FA0-6D9C-8B8F87C717C2}"/>
              </a:ext>
            </a:extLst>
          </p:cNvPr>
          <p:cNvSpPr/>
          <p:nvPr/>
        </p:nvSpPr>
        <p:spPr>
          <a:xfrm>
            <a:off x="457200" y="2286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Domain Knowledge - What Applied, What Didn't, and Why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406096-4E6D-1A61-EAFE-28237F85140A}"/>
              </a:ext>
            </a:extLst>
          </p:cNvPr>
          <p:cNvSpPr/>
          <p:nvPr/>
        </p:nvSpPr>
        <p:spPr>
          <a:xfrm>
            <a:off x="457200" y="6858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 — Critical evaluation of domain-specific knowledge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1F478D6-CA33-97D7-C27B-216B1F484A50}"/>
              </a:ext>
            </a:extLst>
          </p:cNvPr>
          <p:cNvSpPr/>
          <p:nvPr/>
        </p:nvSpPr>
        <p:spPr>
          <a:xfrm>
            <a:off x="365760" y="1051560"/>
            <a:ext cx="11430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402C230-F009-003D-EED5-646F836FB0AB}"/>
              </a:ext>
            </a:extLst>
          </p:cNvPr>
          <p:cNvSpPr/>
          <p:nvPr/>
        </p:nvSpPr>
        <p:spPr>
          <a:xfrm>
            <a:off x="365760" y="1051560"/>
            <a:ext cx="457200" cy="1600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96C19A5-E21F-AE84-98EF-20F377E5D606}"/>
              </a:ext>
            </a:extLst>
          </p:cNvPr>
          <p:cNvSpPr/>
          <p:nvPr/>
        </p:nvSpPr>
        <p:spPr>
          <a:xfrm>
            <a:off x="365760" y="1051560"/>
            <a:ext cx="457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75583A-77B8-EA07-48D6-B66BC232ACD5}"/>
              </a:ext>
            </a:extLst>
          </p:cNvPr>
          <p:cNvSpPr/>
          <p:nvPr/>
        </p:nvSpPr>
        <p:spPr>
          <a:xfrm>
            <a:off x="960120" y="11430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System Framework (NZTA, 2020)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CF3BB88-1EAA-B7B0-4128-42F7572D500E}"/>
              </a:ext>
            </a:extLst>
          </p:cNvPr>
          <p:cNvSpPr/>
          <p:nvPr/>
        </p:nvSpPr>
        <p:spPr>
          <a:xfrm>
            <a:off x="960120" y="14721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Applied: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analysis around 4 pillars: safe roads, safe speeds, safe vehicles, safe road use. Ensured systemic rather than individual-blame framing.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1A44F4F-BFE9-7C37-9FA7-638A036CFD40}"/>
              </a:ext>
            </a:extLst>
          </p:cNvPr>
          <p:cNvSpPr/>
          <p:nvPr/>
        </p:nvSpPr>
        <p:spPr>
          <a:xfrm>
            <a:off x="960120" y="19842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Limits: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CAS excludes driver behaviour data (alcohol, speed). 'Safe vehicles' pillar unanalysable. SHAP features used as proxy for road environment vs driver context contribution.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ABEE74A-F7F4-7C8F-30E0-2B1256D0346F}"/>
              </a:ext>
            </a:extLst>
          </p:cNvPr>
          <p:cNvSpPr/>
          <p:nvPr/>
        </p:nvSpPr>
        <p:spPr>
          <a:xfrm>
            <a:off x="365760" y="2788920"/>
            <a:ext cx="11430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1DB3AA9-D567-B363-4858-0D69695B90BB}"/>
              </a:ext>
            </a:extLst>
          </p:cNvPr>
          <p:cNvSpPr/>
          <p:nvPr/>
        </p:nvSpPr>
        <p:spPr>
          <a:xfrm>
            <a:off x="365760" y="2788920"/>
            <a:ext cx="457200" cy="1600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F66282F-5BBF-7544-87A0-9EF5E1774074}"/>
              </a:ext>
            </a:extLst>
          </p:cNvPr>
          <p:cNvSpPr/>
          <p:nvPr/>
        </p:nvSpPr>
        <p:spPr>
          <a:xfrm>
            <a:off x="365760" y="2788920"/>
            <a:ext cx="457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DF6CB57-BC9B-A26A-031C-E50D070B2FB1}"/>
              </a:ext>
            </a:extLst>
          </p:cNvPr>
          <p:cNvSpPr/>
          <p:nvPr/>
        </p:nvSpPr>
        <p:spPr>
          <a:xfrm>
            <a:off x="960120" y="28803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Process Model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EF277A9-2863-DAC2-34E6-546D0AC5C65B}"/>
              </a:ext>
            </a:extLst>
          </p:cNvPr>
          <p:cNvSpPr/>
          <p:nvPr/>
        </p:nvSpPr>
        <p:spPr>
          <a:xfrm>
            <a:off x="960120" y="320954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Applied: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(Bronze→Silver→Gold) maps naturally to CRISP-DM phases. Structured iterative development across 9 analysis notebooks.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2156E4C-55D4-5B78-FE04-35F8AAC420D3}"/>
              </a:ext>
            </a:extLst>
          </p:cNvPr>
          <p:cNvSpPr/>
          <p:nvPr/>
        </p:nvSpPr>
        <p:spPr>
          <a:xfrm>
            <a:off x="960120" y="3721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Limits: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Deployment phase implemented for ML model. high_risk_flag available in Gold layer but no production API or Police integration built.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DBBC83D-E769-84F5-7466-784EBD0BC326}"/>
              </a:ext>
            </a:extLst>
          </p:cNvPr>
          <p:cNvSpPr/>
          <p:nvPr/>
        </p:nvSpPr>
        <p:spPr>
          <a:xfrm>
            <a:off x="365760" y="4526280"/>
            <a:ext cx="11430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46F154D-8644-65E1-256F-905E8E2E7B65}"/>
              </a:ext>
            </a:extLst>
          </p:cNvPr>
          <p:cNvSpPr/>
          <p:nvPr/>
        </p:nvSpPr>
        <p:spPr>
          <a:xfrm>
            <a:off x="365760" y="4526280"/>
            <a:ext cx="457200" cy="1600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989312A-F30C-47E1-5A40-E547F33635E4}"/>
              </a:ext>
            </a:extLst>
          </p:cNvPr>
          <p:cNvSpPr/>
          <p:nvPr/>
        </p:nvSpPr>
        <p:spPr>
          <a:xfrm>
            <a:off x="365760" y="4526280"/>
            <a:ext cx="457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997DDEA-2026-5AB6-28FE-0911930DF5E9}"/>
              </a:ext>
            </a:extLst>
          </p:cNvPr>
          <p:cNvSpPr/>
          <p:nvPr/>
        </p:nvSpPr>
        <p:spPr>
          <a:xfrm>
            <a:off x="960120" y="46177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Usability Heuristics (Nielsen, 1994)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A75E36D-BEFE-BAB4-B628-47AA87DC4F0D}"/>
              </a:ext>
            </a:extLst>
          </p:cNvPr>
          <p:cNvSpPr/>
          <p:nvPr/>
        </p:nvSpPr>
        <p:spPr>
          <a:xfrm>
            <a:off x="960120" y="494690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Applied: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heuristics applied in Power BI design. Plain language labels (not database codes), consistent severity colours, mandatory data limitation note cards.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A1A8152-83DD-33AA-7A80-ACC354D7CC03}"/>
              </a:ext>
            </a:extLst>
          </p:cNvPr>
          <p:cNvSpPr/>
          <p:nvPr/>
        </p:nvSpPr>
        <p:spPr>
          <a:xfrm>
            <a:off x="960120" y="54589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Limits: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Power BI templates don't include methodology transparency features. Required explicit design overrides for heuristics 2 and 10.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2AC9BA7-524E-E73F-09CF-93C177AA460A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371D912-227D-9C41-F031-CA747A915049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3221301-8125-A40C-1C4C-93BDC5B1A87B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385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E924D0-532B-AF31-9819-B0ECEF9210EE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403643-C09E-39DD-DC3E-89DEEBDC5513}"/>
              </a:ext>
            </a:extLst>
          </p:cNvPr>
          <p:cNvSpPr/>
          <p:nvPr/>
        </p:nvSpPr>
        <p:spPr>
          <a:xfrm>
            <a:off x="457200" y="2286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Research Methodology -Justified Against Real-World Constraints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64D101-1F52-A49B-C930-63167423490D}"/>
              </a:ext>
            </a:extLst>
          </p:cNvPr>
          <p:cNvSpPr/>
          <p:nvPr/>
        </p:nvSpPr>
        <p:spPr>
          <a:xfrm>
            <a:off x="457200" y="6858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 — Methodological justification against feasibility, access, cost, time, and ethics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98673D3-C0DA-E685-65E8-A7C789B98475}"/>
              </a:ext>
            </a:extLst>
          </p:cNvPr>
          <p:cNvSpPr/>
          <p:nvPr/>
        </p:nvSpPr>
        <p:spPr>
          <a:xfrm>
            <a:off x="365760" y="1051560"/>
            <a:ext cx="2103120" cy="1463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CEAF046-F100-CF65-F18C-800BB6CD21E8}"/>
              </a:ext>
            </a:extLst>
          </p:cNvPr>
          <p:cNvSpPr/>
          <p:nvPr/>
        </p:nvSpPr>
        <p:spPr>
          <a:xfrm>
            <a:off x="365760" y="1051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BD6E58F-43B2-ABFB-F496-8AC25DC1BD6B}"/>
              </a:ext>
            </a:extLst>
          </p:cNvPr>
          <p:cNvSpPr/>
          <p:nvPr/>
        </p:nvSpPr>
        <p:spPr>
          <a:xfrm>
            <a:off x="36576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8D10C9-6651-DD17-AD18-A27DB41208A3}"/>
              </a:ext>
            </a:extLst>
          </p:cNvPr>
          <p:cNvSpPr/>
          <p:nvPr/>
        </p:nvSpPr>
        <p:spPr>
          <a:xfrm>
            <a:off x="36576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NZTA CAS WGS84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111,657 records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tables</a:t>
            </a:r>
            <a:endParaRPr lang="en-US" sz="8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80D0197-2B8C-AC62-19DD-D709D81C6A19}"/>
              </a:ext>
            </a:extLst>
          </p:cNvPr>
          <p:cNvSpPr/>
          <p:nvPr/>
        </p:nvSpPr>
        <p:spPr>
          <a:xfrm>
            <a:off x="2468880" y="1417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BCF9904-9170-2ADB-6174-ABC4B6BE2875}"/>
              </a:ext>
            </a:extLst>
          </p:cNvPr>
          <p:cNvSpPr/>
          <p:nvPr/>
        </p:nvSpPr>
        <p:spPr>
          <a:xfrm>
            <a:off x="2743200" y="1051560"/>
            <a:ext cx="2103120" cy="14630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CC5235C-FDEF-AE18-A2BB-9290F0754495}"/>
              </a:ext>
            </a:extLst>
          </p:cNvPr>
          <p:cNvSpPr/>
          <p:nvPr/>
        </p:nvSpPr>
        <p:spPr>
          <a:xfrm>
            <a:off x="2743200" y="1051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9A4949C-D537-1429-0938-687A5337D578}"/>
              </a:ext>
            </a:extLst>
          </p:cNvPr>
          <p:cNvSpPr/>
          <p:nvPr/>
        </p:nvSpPr>
        <p:spPr>
          <a:xfrm>
            <a:off x="274320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5318ECA-EF59-401B-9A7B-145051623333}"/>
              </a:ext>
            </a:extLst>
          </p:cNvPr>
          <p:cNvSpPr/>
          <p:nvPr/>
        </p:nvSpPr>
        <p:spPr>
          <a:xfrm>
            <a:off x="274320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imputation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standardise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validate</a:t>
            </a:r>
            <a:endParaRPr lang="en-US" sz="8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0929EBE-EF37-5C26-D402-FCE25F2FC4A2}"/>
              </a:ext>
            </a:extLst>
          </p:cNvPr>
          <p:cNvSpPr/>
          <p:nvPr/>
        </p:nvSpPr>
        <p:spPr>
          <a:xfrm>
            <a:off x="4846320" y="1417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4AD5962-0598-19A3-53D6-155EBD1E0345}"/>
              </a:ext>
            </a:extLst>
          </p:cNvPr>
          <p:cNvSpPr/>
          <p:nvPr/>
        </p:nvSpPr>
        <p:spPr>
          <a:xfrm>
            <a:off x="5120640" y="1051560"/>
            <a:ext cx="2103120" cy="1463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2AC70EA-2EF0-3807-D1DB-0DF2AFFE41A7}"/>
              </a:ext>
            </a:extLst>
          </p:cNvPr>
          <p:cNvSpPr/>
          <p:nvPr/>
        </p:nvSpPr>
        <p:spPr>
          <a:xfrm>
            <a:off x="5120640" y="1051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AD20D8A-DD1C-1F3A-AD86-D6360CE83E8B}"/>
              </a:ext>
            </a:extLst>
          </p:cNvPr>
          <p:cNvSpPr/>
          <p:nvPr/>
        </p:nvSpPr>
        <p:spPr>
          <a:xfrm>
            <a:off x="512064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8B4A866-D91D-B64B-DE99-FBEF0752B518}"/>
              </a:ext>
            </a:extLst>
          </p:cNvPr>
          <p:cNvSpPr/>
          <p:nvPr/>
        </p:nvSpPr>
        <p:spPr>
          <a:xfrm>
            <a:off x="512064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engineered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removed</a:t>
            </a:r>
            <a:endParaRPr lang="en-US" sz="8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A2A447D-6EFD-C1F1-BF28-E687CCF0CE9D}"/>
              </a:ext>
            </a:extLst>
          </p:cNvPr>
          <p:cNvSpPr/>
          <p:nvPr/>
        </p:nvSpPr>
        <p:spPr>
          <a:xfrm>
            <a:off x="7223760" y="1417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123EABD-427D-E24F-9E14-BD9120F73F8E}"/>
              </a:ext>
            </a:extLst>
          </p:cNvPr>
          <p:cNvSpPr/>
          <p:nvPr/>
        </p:nvSpPr>
        <p:spPr>
          <a:xfrm>
            <a:off x="7498080" y="1051560"/>
            <a:ext cx="2103120" cy="1463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02E8507-9898-9E44-40F0-E6509D136A7F}"/>
              </a:ext>
            </a:extLst>
          </p:cNvPr>
          <p:cNvSpPr/>
          <p:nvPr/>
        </p:nvSpPr>
        <p:spPr>
          <a:xfrm>
            <a:off x="7498080" y="1051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7807955-3874-9762-36BF-B2B2A8E6AC5C}"/>
              </a:ext>
            </a:extLst>
          </p:cNvPr>
          <p:cNvSpPr/>
          <p:nvPr/>
        </p:nvSpPr>
        <p:spPr>
          <a:xfrm>
            <a:off x="749808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81C0723-C66B-D418-9C09-DF2874EB073E}"/>
              </a:ext>
            </a:extLst>
          </p:cNvPr>
          <p:cNvSpPr/>
          <p:nvPr/>
        </p:nvSpPr>
        <p:spPr>
          <a:xfrm>
            <a:off x="749808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KDE+Gi*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XGBoost+SHAP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8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17DDB62-F79B-9F27-97E2-2D96AEE9B5BA}"/>
              </a:ext>
            </a:extLst>
          </p:cNvPr>
          <p:cNvSpPr/>
          <p:nvPr/>
        </p:nvSpPr>
        <p:spPr>
          <a:xfrm>
            <a:off x="9601200" y="1417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6097BE4-5EE0-0401-67F7-383F988FAA08}"/>
              </a:ext>
            </a:extLst>
          </p:cNvPr>
          <p:cNvSpPr/>
          <p:nvPr/>
        </p:nvSpPr>
        <p:spPr>
          <a:xfrm>
            <a:off x="9875520" y="1051560"/>
            <a:ext cx="2103120" cy="1463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A394509-5075-133B-F85B-B4756232D064}"/>
              </a:ext>
            </a:extLst>
          </p:cNvPr>
          <p:cNvSpPr/>
          <p:nvPr/>
        </p:nvSpPr>
        <p:spPr>
          <a:xfrm>
            <a:off x="9875520" y="1051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047EC1A-08A5-475C-66FC-D4304082E605}"/>
              </a:ext>
            </a:extLst>
          </p:cNvPr>
          <p:cNvSpPr/>
          <p:nvPr/>
        </p:nvSpPr>
        <p:spPr>
          <a:xfrm>
            <a:off x="987552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3EABCD2-332A-00A8-6D23-89B038365CD6}"/>
              </a:ext>
            </a:extLst>
          </p:cNvPr>
          <p:cNvSpPr/>
          <p:nvPr/>
        </p:nvSpPr>
        <p:spPr>
          <a:xfrm>
            <a:off x="987552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Gold tables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&lt;3s load time</a:t>
            </a:r>
            <a:endParaRPr lang="en-US" sz="8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DCC1EEA-3B10-B122-6198-114156AF08C2}"/>
              </a:ext>
            </a:extLst>
          </p:cNvPr>
          <p:cNvSpPr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2D994DE-6742-4842-3E0A-846C7C89F27A}"/>
              </a:ext>
            </a:extLst>
          </p:cNvPr>
          <p:cNvSpPr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Constraints &amp; How They Were Managed</a:t>
            </a:r>
            <a:endParaRPr lang="en-US" sz="12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1510C88-9011-6BA7-2B14-FC7A6B17833A}"/>
              </a:ext>
            </a:extLst>
          </p:cNvPr>
          <p:cNvSpPr/>
          <p:nvPr/>
        </p:nvSpPr>
        <p:spPr>
          <a:xfrm>
            <a:off x="365760" y="3200400"/>
            <a:ext cx="2834640" cy="320040"/>
          </a:xfrm>
          <a:prstGeom prst="rect">
            <a:avLst/>
          </a:prstGeom>
          <a:solidFill>
            <a:srgbClr val="1E3A8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1C1E6FF-5EDD-0E81-AD90-C1D399F6A850}"/>
              </a:ext>
            </a:extLst>
          </p:cNvPr>
          <p:cNvSpPr/>
          <p:nvPr/>
        </p:nvSpPr>
        <p:spPr>
          <a:xfrm>
            <a:off x="411480" y="3227832"/>
            <a:ext cx="2743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907036B-55E9-7506-985C-4057EA842207}"/>
              </a:ext>
            </a:extLst>
          </p:cNvPr>
          <p:cNvSpPr/>
          <p:nvPr/>
        </p:nvSpPr>
        <p:spPr>
          <a:xfrm>
            <a:off x="3200400" y="3200400"/>
            <a:ext cx="2743200" cy="320040"/>
          </a:xfrm>
          <a:prstGeom prst="rect">
            <a:avLst/>
          </a:prstGeom>
          <a:solidFill>
            <a:srgbClr val="1E3A8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194A8AE5-AFC4-3CB7-A8B8-643A7C50FFD3}"/>
              </a:ext>
            </a:extLst>
          </p:cNvPr>
          <p:cNvSpPr/>
          <p:nvPr/>
        </p:nvSpPr>
        <p:spPr>
          <a:xfrm>
            <a:off x="3246120" y="3227832"/>
            <a:ext cx="2651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1595048-33AF-FCC7-90B8-5FB7C8B0F6F9}"/>
              </a:ext>
            </a:extLst>
          </p:cNvPr>
          <p:cNvSpPr/>
          <p:nvPr/>
        </p:nvSpPr>
        <p:spPr>
          <a:xfrm>
            <a:off x="5943600" y="3200400"/>
            <a:ext cx="2743200" cy="320040"/>
          </a:xfrm>
          <a:prstGeom prst="rect">
            <a:avLst/>
          </a:prstGeom>
          <a:solidFill>
            <a:srgbClr val="1E3A8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35CBA4C-36CD-6E78-ECFC-331710382EE5}"/>
              </a:ext>
            </a:extLst>
          </p:cNvPr>
          <p:cNvSpPr/>
          <p:nvPr/>
        </p:nvSpPr>
        <p:spPr>
          <a:xfrm>
            <a:off x="5989320" y="3227832"/>
            <a:ext cx="2651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Managed</a:t>
            </a:r>
            <a:endParaRPr lang="en-US" sz="10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6494810-2FA1-65AE-30E9-788F350DBCEB}"/>
              </a:ext>
            </a:extLst>
          </p:cNvPr>
          <p:cNvSpPr/>
          <p:nvPr/>
        </p:nvSpPr>
        <p:spPr>
          <a:xfrm>
            <a:off x="8686800" y="3200400"/>
            <a:ext cx="3108960" cy="320040"/>
          </a:xfrm>
          <a:prstGeom prst="rect">
            <a:avLst/>
          </a:prstGeom>
          <a:solidFill>
            <a:srgbClr val="1E3A8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EC8ED8D-BC97-C53E-55B1-914B01E89E93}"/>
              </a:ext>
            </a:extLst>
          </p:cNvPr>
          <p:cNvSpPr/>
          <p:nvPr/>
        </p:nvSpPr>
        <p:spPr>
          <a:xfrm>
            <a:off x="8732520" y="3227832"/>
            <a:ext cx="3017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Quality</a:t>
            </a:r>
            <a:endParaRPr lang="en-US" sz="10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3343F9D-C712-8FF4-A767-3A4EFF9782B9}"/>
              </a:ext>
            </a:extLst>
          </p:cNvPr>
          <p:cNvSpPr/>
          <p:nvPr/>
        </p:nvSpPr>
        <p:spPr>
          <a:xfrm>
            <a:off x="365760" y="3877056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20830040-981C-DF10-4126-76F4D861E772}"/>
              </a:ext>
            </a:extLst>
          </p:cNvPr>
          <p:cNvSpPr/>
          <p:nvPr/>
        </p:nvSpPr>
        <p:spPr>
          <a:xfrm>
            <a:off x="411480" y="3904488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crash hour data</a:t>
            </a:r>
            <a:endParaRPr lang="en-US" sz="9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CD239D2E-EF86-6E6F-DB6E-92DC2E5AE1A2}"/>
              </a:ext>
            </a:extLst>
          </p:cNvPr>
          <p:cNvSpPr/>
          <p:nvPr/>
        </p:nvSpPr>
        <p:spPr>
          <a:xfrm>
            <a:off x="3200400" y="3877056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662EEDF-B823-70B0-CF7C-6CD57C18EFA0}"/>
              </a:ext>
            </a:extLst>
          </p:cNvPr>
          <p:cNvSpPr/>
          <p:nvPr/>
        </p:nvSpPr>
        <p:spPr>
          <a:xfrm>
            <a:off x="3246120" y="3904488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CAS excludes time-of-day</a:t>
            </a:r>
            <a:endParaRPr lang="en-US" sz="9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0E6768F-3BDC-E3A4-26AF-594E2086697D}"/>
              </a:ext>
            </a:extLst>
          </p:cNvPr>
          <p:cNvSpPr/>
          <p:nvPr/>
        </p:nvSpPr>
        <p:spPr>
          <a:xfrm>
            <a:off x="5943600" y="3877056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BF06C66-9CFF-7ACB-E767-ABEF2549D4DD}"/>
              </a:ext>
            </a:extLst>
          </p:cNvPr>
          <p:cNvSpPr/>
          <p:nvPr/>
        </p:nvSpPr>
        <p:spPr>
          <a:xfrm>
            <a:off x="5989320" y="3904488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scope narrowed to holiday periods; note card in dashboard</a:t>
            </a:r>
            <a:endParaRPr lang="en-US" sz="9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2C1E3F1D-B8AF-7322-9461-1DDF623A8D0A}"/>
              </a:ext>
            </a:extLst>
          </p:cNvPr>
          <p:cNvSpPr/>
          <p:nvPr/>
        </p:nvSpPr>
        <p:spPr>
          <a:xfrm>
            <a:off x="8686800" y="3877056"/>
            <a:ext cx="3108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DD067101-8F28-61A3-CCBE-113C227F7F00}"/>
              </a:ext>
            </a:extLst>
          </p:cNvPr>
          <p:cNvSpPr/>
          <p:nvPr/>
        </p:nvSpPr>
        <p:spPr>
          <a:xfrm>
            <a:off x="8732520" y="3904488"/>
            <a:ext cx="30175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findings limited to annual + holiday comparisons</a:t>
            </a:r>
            <a:endParaRPr lang="en-US" sz="9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705D5AF3-5242-AF1B-374C-8DE9D586AC11}"/>
              </a:ext>
            </a:extLst>
          </p:cNvPr>
          <p:cNvSpPr/>
          <p:nvPr/>
        </p:nvSpPr>
        <p:spPr>
          <a:xfrm>
            <a:off x="365760" y="4553712"/>
            <a:ext cx="283464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52581809-6404-DBD5-52A3-EF4071FC2341}"/>
              </a:ext>
            </a:extLst>
          </p:cNvPr>
          <p:cNvSpPr/>
          <p:nvPr/>
        </p:nvSpPr>
        <p:spPr>
          <a:xfrm>
            <a:off x="411480" y="4581144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driver behaviour data</a:t>
            </a:r>
            <a:endParaRPr lang="en-US" sz="90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D10D6A34-2797-D657-19F3-5DF59F94B487}"/>
              </a:ext>
            </a:extLst>
          </p:cNvPr>
          <p:cNvSpPr/>
          <p:nvPr/>
        </p:nvSpPr>
        <p:spPr>
          <a:xfrm>
            <a:off x="3200400" y="4553712"/>
            <a:ext cx="274320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7AE5FE30-CDB5-223D-78EF-07D25F39A3CA}"/>
              </a:ext>
            </a:extLst>
          </p:cNvPr>
          <p:cNvSpPr/>
          <p:nvPr/>
        </p:nvSpPr>
        <p:spPr>
          <a:xfrm>
            <a:off x="3246120" y="4581144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speed, alcohol, or licence data</a:t>
            </a:r>
            <a:endParaRPr lang="en-US" sz="9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3E3C62F3-66DA-3908-4329-7B99B798C8C2}"/>
              </a:ext>
            </a:extLst>
          </p:cNvPr>
          <p:cNvSpPr/>
          <p:nvPr/>
        </p:nvSpPr>
        <p:spPr>
          <a:xfrm>
            <a:off x="5943600" y="4553712"/>
            <a:ext cx="274320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A27D3F7B-F929-D8FA-05E0-1EC460C93EA5}"/>
              </a:ext>
            </a:extLst>
          </p:cNvPr>
          <p:cNvSpPr/>
          <p:nvPr/>
        </p:nvSpPr>
        <p:spPr>
          <a:xfrm>
            <a:off x="5989320" y="4581144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ceiling at ~0.72 AUC documented; SHAP confirms road features meaningful</a:t>
            </a:r>
            <a:endParaRPr lang="en-US" sz="9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D2109A92-86BD-5BB9-28AC-2D2F1F99A775}"/>
              </a:ext>
            </a:extLst>
          </p:cNvPr>
          <p:cNvSpPr/>
          <p:nvPr/>
        </p:nvSpPr>
        <p:spPr>
          <a:xfrm>
            <a:off x="8686800" y="4553712"/>
            <a:ext cx="310896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575883A4-DD9B-5D09-99E5-D10EA7B10D20}"/>
              </a:ext>
            </a:extLst>
          </p:cNvPr>
          <p:cNvSpPr/>
          <p:nvPr/>
        </p:nvSpPr>
        <p:spPr>
          <a:xfrm>
            <a:off x="8732520" y="4581144"/>
            <a:ext cx="30175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target revised; framed as data-constrained not model-constrained</a:t>
            </a:r>
            <a:endParaRPr lang="en-US" sz="90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9B5AD83-44D1-7004-FE36-9EC876A8F121}"/>
              </a:ext>
            </a:extLst>
          </p:cNvPr>
          <p:cNvSpPr/>
          <p:nvPr/>
        </p:nvSpPr>
        <p:spPr>
          <a:xfrm>
            <a:off x="365760" y="5230368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F9C74850-F6B6-B471-3D77-E4937FD9E27D}"/>
              </a:ext>
            </a:extLst>
          </p:cNvPr>
          <p:cNvSpPr/>
          <p:nvPr/>
        </p:nvSpPr>
        <p:spPr>
          <a:xfrm>
            <a:off x="411480" y="5257800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 Premium</a:t>
            </a:r>
            <a:endParaRPr lang="en-US" sz="9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1A65812D-44E1-E793-4751-8280751CFFD4}"/>
              </a:ext>
            </a:extLst>
          </p:cNvPr>
          <p:cNvSpPr/>
          <p:nvPr/>
        </p:nvSpPr>
        <p:spPr>
          <a:xfrm>
            <a:off x="3200400" y="5230368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A682BD25-E17A-EE9C-5556-EBC8CE188CAF}"/>
              </a:ext>
            </a:extLst>
          </p:cNvPr>
          <p:cNvSpPr/>
          <p:nvPr/>
        </p:nvSpPr>
        <p:spPr>
          <a:xfrm>
            <a:off x="3246120" y="5257800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Fabric workspace connections</a:t>
            </a:r>
            <a:endParaRPr lang="en-US" sz="90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C045D741-DEB7-8158-5BB0-4E2BBC2C1CAF}"/>
              </a:ext>
            </a:extLst>
          </p:cNvPr>
          <p:cNvSpPr/>
          <p:nvPr/>
        </p:nvSpPr>
        <p:spPr>
          <a:xfrm>
            <a:off x="5943600" y="5230368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21081370-5414-FBB6-125C-34C632F8846D}"/>
              </a:ext>
            </a:extLst>
          </p:cNvPr>
          <p:cNvSpPr/>
          <p:nvPr/>
        </p:nvSpPr>
        <p:spPr>
          <a:xfrm>
            <a:off x="5989320" y="5257800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Gold tables exported to CSV for Power BI Desktop import</a:t>
            </a:r>
            <a:endParaRPr lang="en-US" sz="900" dirty="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2FF0D4D6-FED2-DBFE-AE52-C5343DDA4990}"/>
              </a:ext>
            </a:extLst>
          </p:cNvPr>
          <p:cNvSpPr/>
          <p:nvPr/>
        </p:nvSpPr>
        <p:spPr>
          <a:xfrm>
            <a:off x="8686800" y="5230368"/>
            <a:ext cx="3108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4785EB5E-BB5F-94F8-4449-83D49251EEC7}"/>
              </a:ext>
            </a:extLst>
          </p:cNvPr>
          <p:cNvSpPr/>
          <p:nvPr/>
        </p:nvSpPr>
        <p:spPr>
          <a:xfrm>
            <a:off x="8732520" y="5257800"/>
            <a:ext cx="30175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functionality preserved; minor workflow step added</a:t>
            </a:r>
            <a:endParaRPr lang="en-US" sz="900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3A515A32-D4BD-A6A3-EA39-688154AE2402}"/>
              </a:ext>
            </a:extLst>
          </p:cNvPr>
          <p:cNvSpPr/>
          <p:nvPr/>
        </p:nvSpPr>
        <p:spPr>
          <a:xfrm>
            <a:off x="365760" y="5907024"/>
            <a:ext cx="283464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4BD4A343-694B-E744-9B61-6A4E196458C8}"/>
              </a:ext>
            </a:extLst>
          </p:cNvPr>
          <p:cNvSpPr/>
          <p:nvPr/>
        </p:nvSpPr>
        <p:spPr>
          <a:xfrm>
            <a:off x="411480" y="5934456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(4.8% severe)</a:t>
            </a:r>
            <a:endParaRPr lang="en-US" sz="90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9D79C9CC-3830-8A79-D78C-1F7B321B8285}"/>
              </a:ext>
            </a:extLst>
          </p:cNvPr>
          <p:cNvSpPr/>
          <p:nvPr/>
        </p:nvSpPr>
        <p:spPr>
          <a:xfrm>
            <a:off x="3200400" y="5907024"/>
            <a:ext cx="274320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892248E9-7CB7-B76D-C49D-C2DC710AC949}"/>
              </a:ext>
            </a:extLst>
          </p:cNvPr>
          <p:cNvSpPr/>
          <p:nvPr/>
        </p:nvSpPr>
        <p:spPr>
          <a:xfrm>
            <a:off x="3246120" y="5934456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crashes rare in training data</a:t>
            </a:r>
            <a:endParaRPr lang="en-US" sz="90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E369C9B6-CC8A-9ADF-C304-90A935BAA68A}"/>
              </a:ext>
            </a:extLst>
          </p:cNvPr>
          <p:cNvSpPr/>
          <p:nvPr/>
        </p:nvSpPr>
        <p:spPr>
          <a:xfrm>
            <a:off x="5943600" y="5907024"/>
            <a:ext cx="274320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40894401-6220-622D-32B5-EB09F863EF9B}"/>
              </a:ext>
            </a:extLst>
          </p:cNvPr>
          <p:cNvSpPr/>
          <p:nvPr/>
        </p:nvSpPr>
        <p:spPr>
          <a:xfrm>
            <a:off x="5989320" y="5934456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scale_pos_weight; threshold=0.35 to maximise recall</a:t>
            </a:r>
            <a:endParaRPr lang="en-US" sz="90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A71D73B3-583C-C53F-2E2E-B6537B52ECB7}"/>
              </a:ext>
            </a:extLst>
          </p:cNvPr>
          <p:cNvSpPr/>
          <p:nvPr/>
        </p:nvSpPr>
        <p:spPr>
          <a:xfrm>
            <a:off x="8686800" y="5907024"/>
            <a:ext cx="310896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3055ABCC-D6A5-85D8-6502-E4778954EBFC}"/>
              </a:ext>
            </a:extLst>
          </p:cNvPr>
          <p:cNvSpPr/>
          <p:nvPr/>
        </p:nvSpPr>
        <p:spPr>
          <a:xfrm>
            <a:off x="8732520" y="5934456"/>
            <a:ext cx="30175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lower but recall 63.8% — appropriate for safety use case</a:t>
            </a:r>
            <a:endParaRPr lang="en-US" sz="90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328289BB-0A7F-9D51-A187-45AF7D64D645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80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05E91DAC-07BA-95CD-C86B-4DEBCB55A45F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80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83AA94EC-0C13-41B6-8A82-B04752F8EF5E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292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8665C0-7F33-B839-F404-6244FEA9B769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3D5F4A-B330-6E49-9B23-A87771DC1C84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04a  Finding 1 - Geospatial Hotspot Analysis (RQ1)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0C35ED3-E552-EF39-B82B-C1A74B3891F4}"/>
              </a:ext>
            </a:extLst>
          </p:cNvPr>
          <p:cNvSpPr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7F75DFB-775C-88D0-21DA-93C123DEA89A}"/>
              </a:ext>
            </a:extLst>
          </p:cNvPr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statistically significant hotspot grid cells — SH1/Southern Motorway Corridor confirmed at 99.9% confidence (Gi* Z &gt; 3.29, p &lt; 0.001)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0943AE2-E1E6-F754-5D12-CF6019000F4F}"/>
              </a:ext>
            </a:extLst>
          </p:cNvPr>
          <p:cNvSpPr/>
          <p:nvPr/>
        </p:nvSpPr>
        <p:spPr>
          <a:xfrm>
            <a:off x="365760" y="1444752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FD9B47C-1865-E3DD-C403-F2C344C3DE8C}"/>
              </a:ext>
            </a:extLst>
          </p:cNvPr>
          <p:cNvSpPr/>
          <p:nvPr/>
        </p:nvSpPr>
        <p:spPr>
          <a:xfrm>
            <a:off x="365760" y="1444752"/>
            <a:ext cx="2743200" cy="36576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1C6E6AE-BC5A-64BC-D1F4-98B2E145325B}"/>
              </a:ext>
            </a:extLst>
          </p:cNvPr>
          <p:cNvSpPr/>
          <p:nvPr/>
        </p:nvSpPr>
        <p:spPr>
          <a:xfrm>
            <a:off x="365760" y="1444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99.9%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B8CED36-11A3-66DC-4031-3FFFDAC5EF84}"/>
              </a:ext>
            </a:extLst>
          </p:cNvPr>
          <p:cNvSpPr/>
          <p:nvPr/>
        </p:nvSpPr>
        <p:spPr>
          <a:xfrm>
            <a:off x="457200" y="18745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9FBFDEE-28C1-EB89-C287-7BC8E2E77FAE}"/>
              </a:ext>
            </a:extLst>
          </p:cNvPr>
          <p:cNvSpPr/>
          <p:nvPr/>
        </p:nvSpPr>
        <p:spPr>
          <a:xfrm>
            <a:off x="10058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cells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8DDD8D5-3C23-3AFE-A557-945261E77182}"/>
              </a:ext>
            </a:extLst>
          </p:cNvPr>
          <p:cNvSpPr/>
          <p:nvPr/>
        </p:nvSpPr>
        <p:spPr>
          <a:xfrm>
            <a:off x="100584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Grafton–CBD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Eden Terrace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2365834-60E0-1622-58F5-A5D50FB33EE8}"/>
              </a:ext>
            </a:extLst>
          </p:cNvPr>
          <p:cNvSpPr/>
          <p:nvPr/>
        </p:nvSpPr>
        <p:spPr>
          <a:xfrm>
            <a:off x="3291840" y="1444752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068404-3E25-E146-BC79-D841DE75D512}"/>
              </a:ext>
            </a:extLst>
          </p:cNvPr>
          <p:cNvSpPr/>
          <p:nvPr/>
        </p:nvSpPr>
        <p:spPr>
          <a:xfrm>
            <a:off x="3291840" y="1444752"/>
            <a:ext cx="2743200" cy="365760"/>
          </a:xfrm>
          <a:prstGeom prst="rect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E8E176C-44BF-787B-77F0-421536FF0D13}"/>
              </a:ext>
            </a:extLst>
          </p:cNvPr>
          <p:cNvSpPr/>
          <p:nvPr/>
        </p:nvSpPr>
        <p:spPr>
          <a:xfrm>
            <a:off x="3291840" y="1444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99%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9A2A949-A38C-76F1-58D1-C823F6D508FB}"/>
              </a:ext>
            </a:extLst>
          </p:cNvPr>
          <p:cNvSpPr/>
          <p:nvPr/>
        </p:nvSpPr>
        <p:spPr>
          <a:xfrm>
            <a:off x="3383280" y="18745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🟠</a:t>
            </a:r>
            <a:endParaRPr lang="en-US" sz="2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E463F67-6156-5B67-CD63-D8262745346A}"/>
              </a:ext>
            </a:extLst>
          </p:cNvPr>
          <p:cNvSpPr/>
          <p:nvPr/>
        </p:nvSpPr>
        <p:spPr>
          <a:xfrm>
            <a:off x="393192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cells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E17BB39-EBE8-D686-7024-68376B5162AF}"/>
              </a:ext>
            </a:extLst>
          </p:cNvPr>
          <p:cNvSpPr/>
          <p:nvPr/>
        </p:nvSpPr>
        <p:spPr>
          <a:xfrm>
            <a:off x="393192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SH1 Southern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Motorway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8164BF9-E8F2-9288-A936-11696AD0DDDA}"/>
              </a:ext>
            </a:extLst>
          </p:cNvPr>
          <p:cNvSpPr/>
          <p:nvPr/>
        </p:nvSpPr>
        <p:spPr>
          <a:xfrm>
            <a:off x="6217920" y="1444752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B28860B-D314-15FA-3149-9F1DDE38F03E}"/>
              </a:ext>
            </a:extLst>
          </p:cNvPr>
          <p:cNvSpPr/>
          <p:nvPr/>
        </p:nvSpPr>
        <p:spPr>
          <a:xfrm>
            <a:off x="6217920" y="1444752"/>
            <a:ext cx="2743200" cy="36576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894F688-ACC9-D544-03DA-07846DECEFBF}"/>
              </a:ext>
            </a:extLst>
          </p:cNvPr>
          <p:cNvSpPr/>
          <p:nvPr/>
        </p:nvSpPr>
        <p:spPr>
          <a:xfrm>
            <a:off x="6217920" y="1444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95%</a:t>
            </a:r>
            <a:endParaRPr lang="en-US" sz="1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345F98D-9A2F-8C34-EF45-15B4F6ECC4DE}"/>
              </a:ext>
            </a:extLst>
          </p:cNvPr>
          <p:cNvSpPr/>
          <p:nvPr/>
        </p:nvSpPr>
        <p:spPr>
          <a:xfrm>
            <a:off x="6309360" y="18745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🟡</a:t>
            </a:r>
            <a:endParaRPr lang="en-US" sz="2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419BA26-E7B0-EE92-5518-ED208AE61071}"/>
              </a:ext>
            </a:extLst>
          </p:cNvPr>
          <p:cNvSpPr/>
          <p:nvPr/>
        </p:nvSpPr>
        <p:spPr>
          <a:xfrm>
            <a:off x="685800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cells</a:t>
            </a:r>
            <a:endParaRPr lang="en-US" sz="1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ECDE3EC-F9A2-FD7D-768C-FABAE035DCDC}"/>
              </a:ext>
            </a:extLst>
          </p:cNvPr>
          <p:cNvSpPr/>
          <p:nvPr/>
        </p:nvSpPr>
        <p:spPr>
          <a:xfrm>
            <a:off x="685800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Henderson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Lynn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C27D75B-21A7-9784-A50F-3A845ABE9E9A}"/>
              </a:ext>
            </a:extLst>
          </p:cNvPr>
          <p:cNvSpPr/>
          <p:nvPr/>
        </p:nvSpPr>
        <p:spPr>
          <a:xfrm>
            <a:off x="9144000" y="1444752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21970D9-B4DE-DAF8-CF0A-57275841C7A9}"/>
              </a:ext>
            </a:extLst>
          </p:cNvPr>
          <p:cNvSpPr/>
          <p:nvPr/>
        </p:nvSpPr>
        <p:spPr>
          <a:xfrm>
            <a:off x="9144000" y="1444752"/>
            <a:ext cx="2743200" cy="365760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1AC5F66-8436-BD57-863C-AFD70608A633}"/>
              </a:ext>
            </a:extLst>
          </p:cNvPr>
          <p:cNvSpPr/>
          <p:nvPr/>
        </p:nvSpPr>
        <p:spPr>
          <a:xfrm>
            <a:off x="9144000" y="1444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Spot 95%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C25A8D7-CFD5-9B28-6E9D-7849F4731503}"/>
              </a:ext>
            </a:extLst>
          </p:cNvPr>
          <p:cNvSpPr/>
          <p:nvPr/>
        </p:nvSpPr>
        <p:spPr>
          <a:xfrm>
            <a:off x="9235440" y="18745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BAE492E-0FAE-A228-D0F4-D8CBC124C1C5}"/>
              </a:ext>
            </a:extLst>
          </p:cNvPr>
          <p:cNvSpPr/>
          <p:nvPr/>
        </p:nvSpPr>
        <p:spPr>
          <a:xfrm>
            <a:off x="978408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cells</a:t>
            </a:r>
            <a:endParaRPr lang="en-US" sz="1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017F32F-0409-EA60-E58F-9D831600659C}"/>
              </a:ext>
            </a:extLst>
          </p:cNvPr>
          <p:cNvSpPr/>
          <p:nvPr/>
        </p:nvSpPr>
        <p:spPr>
          <a:xfrm>
            <a:off x="978408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suburbs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E3A2BFA1-1CA2-C3DF-601B-3A67BB511712}"/>
              </a:ext>
            </a:extLst>
          </p:cNvPr>
          <p:cNvSpPr/>
          <p:nvPr/>
        </p:nvSpPr>
        <p:spPr>
          <a:xfrm>
            <a:off x="365760" y="2834640"/>
            <a:ext cx="11430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05B20FA-B7EA-64F5-4487-907C45474810}"/>
              </a:ext>
            </a:extLst>
          </p:cNvPr>
          <p:cNvSpPr/>
          <p:nvPr/>
        </p:nvSpPr>
        <p:spPr>
          <a:xfrm>
            <a:off x="457200" y="2834640"/>
            <a:ext cx="11247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KDE Hotspot Locations</a:t>
            </a:r>
            <a:endParaRPr lang="en-US" sz="11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9414E95-8939-BD59-CB73-12293B9DE9FF}"/>
              </a:ext>
            </a:extLst>
          </p:cNvPr>
          <p:cNvSpPr/>
          <p:nvPr/>
        </p:nvSpPr>
        <p:spPr>
          <a:xfrm>
            <a:off x="365760" y="3218688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38BF8A3-4A7C-5892-5C95-AB11259EF627}"/>
              </a:ext>
            </a:extLst>
          </p:cNvPr>
          <p:cNvSpPr/>
          <p:nvPr/>
        </p:nvSpPr>
        <p:spPr>
          <a:xfrm>
            <a:off x="41148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1603ECB9-1A61-925B-81B5-21589B03A3BB}"/>
              </a:ext>
            </a:extLst>
          </p:cNvPr>
          <p:cNvSpPr/>
          <p:nvPr/>
        </p:nvSpPr>
        <p:spPr>
          <a:xfrm>
            <a:off x="822960" y="3218688"/>
            <a:ext cx="2926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7A3F753-C78A-A9BD-AA73-BAEB8B283072}"/>
              </a:ext>
            </a:extLst>
          </p:cNvPr>
          <p:cNvSpPr/>
          <p:nvPr/>
        </p:nvSpPr>
        <p:spPr>
          <a:xfrm>
            <a:off x="868680" y="3264408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Karangahape Road</a:t>
            </a:r>
            <a:endParaRPr lang="en-US" sz="10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FFF387D-E555-656F-487D-F160AD547953}"/>
              </a:ext>
            </a:extLst>
          </p:cNvPr>
          <p:cNvSpPr/>
          <p:nvPr/>
        </p:nvSpPr>
        <p:spPr>
          <a:xfrm>
            <a:off x="3749040" y="3218688"/>
            <a:ext cx="20116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1568EDE-3138-8E32-3834-1C8DAB6F1610}"/>
              </a:ext>
            </a:extLst>
          </p:cNvPr>
          <p:cNvSpPr/>
          <p:nvPr/>
        </p:nvSpPr>
        <p:spPr>
          <a:xfrm>
            <a:off x="3794760" y="3264408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Eden Terrace</a:t>
            </a:r>
            <a:endParaRPr lang="en-US" sz="10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36B9259-AF44-D171-F794-C0D46FC09AC7}"/>
              </a:ext>
            </a:extLst>
          </p:cNvPr>
          <p:cNvSpPr/>
          <p:nvPr/>
        </p:nvSpPr>
        <p:spPr>
          <a:xfrm>
            <a:off x="5760720" y="3218688"/>
            <a:ext cx="10972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0F84E91-9E9B-E3EA-90A8-4D7D54C903CD}"/>
              </a:ext>
            </a:extLst>
          </p:cNvPr>
          <p:cNvSpPr/>
          <p:nvPr/>
        </p:nvSpPr>
        <p:spPr>
          <a:xfrm>
            <a:off x="5806440" y="3264408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1,497</a:t>
            </a:r>
            <a:endParaRPr lang="en-US" sz="10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48D78C19-9F16-0301-7A65-7A1F4E6C399F}"/>
              </a:ext>
            </a:extLst>
          </p:cNvPr>
          <p:cNvSpPr/>
          <p:nvPr/>
        </p:nvSpPr>
        <p:spPr>
          <a:xfrm>
            <a:off x="6858000" y="3218688"/>
            <a:ext cx="23774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1676A70-A4B9-A056-5F4F-3201B86F2F4F}"/>
              </a:ext>
            </a:extLst>
          </p:cNvPr>
          <p:cNvSpPr/>
          <p:nvPr/>
        </p:nvSpPr>
        <p:spPr>
          <a:xfrm>
            <a:off x="6903720" y="3264408"/>
            <a:ext cx="2286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99.9%</a:t>
            </a:r>
            <a:endParaRPr lang="en-US" sz="10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F26548FE-5365-4D8B-FA7A-8FCAB8B2B256}"/>
              </a:ext>
            </a:extLst>
          </p:cNvPr>
          <p:cNvSpPr/>
          <p:nvPr/>
        </p:nvSpPr>
        <p:spPr>
          <a:xfrm>
            <a:off x="365760" y="3739896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8D6E26F-2D01-383E-6671-CA884F291F67}"/>
              </a:ext>
            </a:extLst>
          </p:cNvPr>
          <p:cNvSpPr/>
          <p:nvPr/>
        </p:nvSpPr>
        <p:spPr>
          <a:xfrm>
            <a:off x="411480" y="3785616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764A1689-88FD-EBBF-1FB4-536C1628D3A2}"/>
              </a:ext>
            </a:extLst>
          </p:cNvPr>
          <p:cNvSpPr/>
          <p:nvPr/>
        </p:nvSpPr>
        <p:spPr>
          <a:xfrm>
            <a:off x="822960" y="3739896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7CB8665-B890-BDB1-17D0-6F12402D3AB0}"/>
              </a:ext>
            </a:extLst>
          </p:cNvPr>
          <p:cNvSpPr/>
          <p:nvPr/>
        </p:nvSpPr>
        <p:spPr>
          <a:xfrm>
            <a:off x="868680" y="3785616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Wellington Highway</a:t>
            </a:r>
            <a:endParaRPr lang="en-US" sz="10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77EC8607-C5E0-D243-A38A-2AC00E4A8D0C}"/>
              </a:ext>
            </a:extLst>
          </p:cNvPr>
          <p:cNvSpPr/>
          <p:nvPr/>
        </p:nvSpPr>
        <p:spPr>
          <a:xfrm>
            <a:off x="3749040" y="3739896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05083FCE-6893-60BC-CC56-689D1CDC728B}"/>
              </a:ext>
            </a:extLst>
          </p:cNvPr>
          <p:cNvSpPr/>
          <p:nvPr/>
        </p:nvSpPr>
        <p:spPr>
          <a:xfrm>
            <a:off x="3794760" y="3785616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Wellington</a:t>
            </a:r>
            <a:endParaRPr lang="en-US" sz="10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B9FAB5FA-7E5D-4B1E-D2C6-A10ADE2EC851}"/>
              </a:ext>
            </a:extLst>
          </p:cNvPr>
          <p:cNvSpPr/>
          <p:nvPr/>
        </p:nvSpPr>
        <p:spPr>
          <a:xfrm>
            <a:off x="5760720" y="3739896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8F26CA41-9D1F-99ED-40EC-FB698B34B2EF}"/>
              </a:ext>
            </a:extLst>
          </p:cNvPr>
          <p:cNvSpPr/>
          <p:nvPr/>
        </p:nvSpPr>
        <p:spPr>
          <a:xfrm>
            <a:off x="5806440" y="3785616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749</a:t>
            </a:r>
            <a:endParaRPr lang="en-US" sz="10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8C8765A4-C454-CDE2-327D-543258581211}"/>
              </a:ext>
            </a:extLst>
          </p:cNvPr>
          <p:cNvSpPr/>
          <p:nvPr/>
        </p:nvSpPr>
        <p:spPr>
          <a:xfrm>
            <a:off x="6858000" y="3739896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0F248C53-EB54-BA28-12CA-F5E9B981E34F}"/>
              </a:ext>
            </a:extLst>
          </p:cNvPr>
          <p:cNvSpPr/>
          <p:nvPr/>
        </p:nvSpPr>
        <p:spPr>
          <a:xfrm>
            <a:off x="6903720" y="3785616"/>
            <a:ext cx="2286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99.9%</a:t>
            </a:r>
            <a:endParaRPr lang="en-US" sz="10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D22222A4-4199-D32D-F93D-AFD90FA2E2A3}"/>
              </a:ext>
            </a:extLst>
          </p:cNvPr>
          <p:cNvSpPr/>
          <p:nvPr/>
        </p:nvSpPr>
        <p:spPr>
          <a:xfrm>
            <a:off x="365760" y="4261104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7F74822-9C74-8D73-56C3-793867BE8A2A}"/>
              </a:ext>
            </a:extLst>
          </p:cNvPr>
          <p:cNvSpPr/>
          <p:nvPr/>
        </p:nvSpPr>
        <p:spPr>
          <a:xfrm>
            <a:off x="411480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42B820B1-9D57-57ED-CD0D-1A3709DDEBE2}"/>
              </a:ext>
            </a:extLst>
          </p:cNvPr>
          <p:cNvSpPr/>
          <p:nvPr/>
        </p:nvSpPr>
        <p:spPr>
          <a:xfrm>
            <a:off x="822960" y="4261104"/>
            <a:ext cx="2926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A98D60CA-A4B6-B205-682B-BB39D396F877}"/>
              </a:ext>
            </a:extLst>
          </p:cNvPr>
          <p:cNvSpPr/>
          <p:nvPr/>
        </p:nvSpPr>
        <p:spPr>
          <a:xfrm>
            <a:off x="868680" y="4306824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South Road</a:t>
            </a:r>
            <a:endParaRPr lang="en-US" sz="10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1BD66419-9D28-BE42-4629-0ABE61864254}"/>
              </a:ext>
            </a:extLst>
          </p:cNvPr>
          <p:cNvSpPr/>
          <p:nvPr/>
        </p:nvSpPr>
        <p:spPr>
          <a:xfrm>
            <a:off x="3749040" y="4261104"/>
            <a:ext cx="20116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CA546EDB-06C6-C4EC-EF40-F168BEF49B8B}"/>
              </a:ext>
            </a:extLst>
          </p:cNvPr>
          <p:cNvSpPr/>
          <p:nvPr/>
        </p:nvSpPr>
        <p:spPr>
          <a:xfrm>
            <a:off x="3794760" y="4306824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Clover Park</a:t>
            </a:r>
            <a:endParaRPr lang="en-US" sz="10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F2CB4ECE-5793-0FD3-3728-DBB6940F8426}"/>
              </a:ext>
            </a:extLst>
          </p:cNvPr>
          <p:cNvSpPr/>
          <p:nvPr/>
        </p:nvSpPr>
        <p:spPr>
          <a:xfrm>
            <a:off x="5760720" y="4261104"/>
            <a:ext cx="10972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88723D91-D220-41AE-33A2-FB0988FA3E1E}"/>
              </a:ext>
            </a:extLst>
          </p:cNvPr>
          <p:cNvSpPr/>
          <p:nvPr/>
        </p:nvSpPr>
        <p:spPr>
          <a:xfrm>
            <a:off x="5806440" y="4306824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573</a:t>
            </a:r>
            <a:endParaRPr lang="en-US" sz="100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69503808-4A55-5625-5292-D3EA2BE186BF}"/>
              </a:ext>
            </a:extLst>
          </p:cNvPr>
          <p:cNvSpPr/>
          <p:nvPr/>
        </p:nvSpPr>
        <p:spPr>
          <a:xfrm>
            <a:off x="6858000" y="4261104"/>
            <a:ext cx="23774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DBD806B2-017B-3E34-0797-2B7A6401A9AB}"/>
              </a:ext>
            </a:extLst>
          </p:cNvPr>
          <p:cNvSpPr/>
          <p:nvPr/>
        </p:nvSpPr>
        <p:spPr>
          <a:xfrm>
            <a:off x="6903720" y="4306824"/>
            <a:ext cx="2286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99%</a:t>
            </a:r>
            <a:endParaRPr lang="en-US" sz="100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52D2988F-4CD2-CF42-845E-9CD8BDA8E021}"/>
              </a:ext>
            </a:extLst>
          </p:cNvPr>
          <p:cNvSpPr/>
          <p:nvPr/>
        </p:nvSpPr>
        <p:spPr>
          <a:xfrm>
            <a:off x="365760" y="478231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13A49CF3-5546-6623-4481-3FA46E1796C9}"/>
              </a:ext>
            </a:extLst>
          </p:cNvPr>
          <p:cNvSpPr/>
          <p:nvPr/>
        </p:nvSpPr>
        <p:spPr>
          <a:xfrm>
            <a:off x="411480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00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AFCC11AD-F80F-8163-BF2B-F6F968CD1897}"/>
              </a:ext>
            </a:extLst>
          </p:cNvPr>
          <p:cNvSpPr/>
          <p:nvPr/>
        </p:nvSpPr>
        <p:spPr>
          <a:xfrm>
            <a:off x="822960" y="4782312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A82EF2D9-E7A2-DA7C-7D12-F103ACD707C7}"/>
              </a:ext>
            </a:extLst>
          </p:cNvPr>
          <p:cNvSpPr/>
          <p:nvPr/>
        </p:nvSpPr>
        <p:spPr>
          <a:xfrm>
            <a:off x="868680" y="4828032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Weymouth Road</a:t>
            </a:r>
            <a:endParaRPr lang="en-US" sz="100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A3357E43-CEA4-23E1-531E-507F9DECD6DE}"/>
              </a:ext>
            </a:extLst>
          </p:cNvPr>
          <p:cNvSpPr/>
          <p:nvPr/>
        </p:nvSpPr>
        <p:spPr>
          <a:xfrm>
            <a:off x="3749040" y="4782312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E0242B11-B2D6-63B7-5C17-A28CEBA5DEF8}"/>
              </a:ext>
            </a:extLst>
          </p:cNvPr>
          <p:cNvSpPr/>
          <p:nvPr/>
        </p:nvSpPr>
        <p:spPr>
          <a:xfrm>
            <a:off x="3794760" y="4828032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Manurewa</a:t>
            </a:r>
            <a:endParaRPr lang="en-US" sz="100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D6B82FCE-3C9F-08BE-1D5A-E2E598468E57}"/>
              </a:ext>
            </a:extLst>
          </p:cNvPr>
          <p:cNvSpPr/>
          <p:nvPr/>
        </p:nvSpPr>
        <p:spPr>
          <a:xfrm>
            <a:off x="5760720" y="4782312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2A3178F6-62BB-8BA8-D8D5-7E7FBFBAA02F}"/>
              </a:ext>
            </a:extLst>
          </p:cNvPr>
          <p:cNvSpPr/>
          <p:nvPr/>
        </p:nvSpPr>
        <p:spPr>
          <a:xfrm>
            <a:off x="5806440" y="4828032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544</a:t>
            </a:r>
            <a:endParaRPr lang="en-US" sz="100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9003B39F-A362-AA7C-AAA9-ECA03FB99D99}"/>
              </a:ext>
            </a:extLst>
          </p:cNvPr>
          <p:cNvSpPr/>
          <p:nvPr/>
        </p:nvSpPr>
        <p:spPr>
          <a:xfrm>
            <a:off x="6858000" y="4782312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32E748AB-63B2-E40C-D3AA-C05F0F2E7FDA}"/>
              </a:ext>
            </a:extLst>
          </p:cNvPr>
          <p:cNvSpPr/>
          <p:nvPr/>
        </p:nvSpPr>
        <p:spPr>
          <a:xfrm>
            <a:off x="6903720" y="4828032"/>
            <a:ext cx="2286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99%</a:t>
            </a:r>
            <a:endParaRPr lang="en-US" sz="1000" dirty="0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EBD0233F-6314-01F0-549B-ABA63C33FC41}"/>
              </a:ext>
            </a:extLst>
          </p:cNvPr>
          <p:cNvSpPr/>
          <p:nvPr/>
        </p:nvSpPr>
        <p:spPr>
          <a:xfrm>
            <a:off x="365760" y="5303520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E93B2FD3-8DF4-480B-0012-21444722D8DB}"/>
              </a:ext>
            </a:extLst>
          </p:cNvPr>
          <p:cNvSpPr/>
          <p:nvPr/>
        </p:nvSpPr>
        <p:spPr>
          <a:xfrm>
            <a:off x="41148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000" dirty="0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90789E8D-ED20-8BA0-169A-D2DF22F63E12}"/>
              </a:ext>
            </a:extLst>
          </p:cNvPr>
          <p:cNvSpPr/>
          <p:nvPr/>
        </p:nvSpPr>
        <p:spPr>
          <a:xfrm>
            <a:off x="822960" y="5303520"/>
            <a:ext cx="2926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30A18272-B8CC-3FC2-6373-AC6AF02678B7}"/>
              </a:ext>
            </a:extLst>
          </p:cNvPr>
          <p:cNvSpPr/>
          <p:nvPr/>
        </p:nvSpPr>
        <p:spPr>
          <a:xfrm>
            <a:off x="868680" y="5349240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Motorway</a:t>
            </a:r>
            <a:endParaRPr lang="en-US" sz="1000" dirty="0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8B3D75E0-255B-1359-E07C-032C35EBAA6A}"/>
              </a:ext>
            </a:extLst>
          </p:cNvPr>
          <p:cNvSpPr/>
          <p:nvPr/>
        </p:nvSpPr>
        <p:spPr>
          <a:xfrm>
            <a:off x="3749040" y="5303520"/>
            <a:ext cx="20116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FB4E4E33-7ECD-79CB-170A-FBB8DD2E9984}"/>
              </a:ext>
            </a:extLst>
          </p:cNvPr>
          <p:cNvSpPr/>
          <p:nvPr/>
        </p:nvSpPr>
        <p:spPr>
          <a:xfrm>
            <a:off x="3794760" y="5349240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 Hill</a:t>
            </a:r>
            <a:endParaRPr lang="en-US" sz="1000" dirty="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0ADE4E7A-1A9E-6FAB-3618-7C78A288CB3B}"/>
              </a:ext>
            </a:extLst>
          </p:cNvPr>
          <p:cNvSpPr/>
          <p:nvPr/>
        </p:nvSpPr>
        <p:spPr>
          <a:xfrm>
            <a:off x="5760720" y="5303520"/>
            <a:ext cx="10972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7AFB43BA-1E68-A449-49B8-057987A9F336}"/>
              </a:ext>
            </a:extLst>
          </p:cNvPr>
          <p:cNvSpPr/>
          <p:nvPr/>
        </p:nvSpPr>
        <p:spPr>
          <a:xfrm>
            <a:off x="5806440" y="534924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355</a:t>
            </a:r>
            <a:endParaRPr lang="en-US" sz="1000" dirty="0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601DCFB8-2E05-9A59-8BE3-CCCD552BA9A5}"/>
              </a:ext>
            </a:extLst>
          </p:cNvPr>
          <p:cNvSpPr/>
          <p:nvPr/>
        </p:nvSpPr>
        <p:spPr>
          <a:xfrm>
            <a:off x="6858000" y="5303520"/>
            <a:ext cx="23774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A19F9138-EB99-577E-59C8-72350689380F}"/>
              </a:ext>
            </a:extLst>
          </p:cNvPr>
          <p:cNvSpPr/>
          <p:nvPr/>
        </p:nvSpPr>
        <p:spPr>
          <a:xfrm>
            <a:off x="6903720" y="5349240"/>
            <a:ext cx="2286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95%</a:t>
            </a:r>
            <a:endParaRPr lang="en-US" sz="1000" dirty="0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DEC75AEA-72D6-4801-C9F3-2E5672F1F76A}"/>
              </a:ext>
            </a:extLst>
          </p:cNvPr>
          <p:cNvSpPr/>
          <p:nvPr/>
        </p:nvSpPr>
        <p:spPr>
          <a:xfrm>
            <a:off x="9235440" y="3200400"/>
            <a:ext cx="2560320" cy="26517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68E64DDE-C1B6-90DA-3B7D-56933ACD4757}"/>
              </a:ext>
            </a:extLst>
          </p:cNvPr>
          <p:cNvSpPr/>
          <p:nvPr/>
        </p:nvSpPr>
        <p:spPr>
          <a:xfrm>
            <a:off x="932688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C6DB8E06-914E-64FC-971D-F4ECA8BD9193}"/>
              </a:ext>
            </a:extLst>
          </p:cNvPr>
          <p:cNvSpPr/>
          <p:nvPr/>
        </p:nvSpPr>
        <p:spPr>
          <a:xfrm>
            <a:off x="9326880" y="3566160"/>
            <a:ext cx="237744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and Gi* independently confirm the same zones — cross-method validation strengthens confidence.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Moran's I &gt; 0, p &lt; 0.05 confirms crashes cluster spatially, not randomly.</a:t>
            </a:r>
            <a:endParaRPr lang="en-US" sz="950" dirty="0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B0AD3D67-3ADD-170A-63AA-E551F490B1F8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800" dirty="0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08D06557-77F7-382F-19D9-5255A9958E7B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800" dirty="0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FD7283E0-E835-FDB8-5BA8-1FEB0419885A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0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E72A4B-D245-FF58-A6B5-DF019AA6DB7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848C7D-06A7-46F6-7909-F9DE3038BA96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04b  Finding 2 - Machine Learning Severity Prediction (RQ2)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74C72A-D258-D23E-8405-8DB50A84CD13}"/>
              </a:ext>
            </a:extLst>
          </p:cNvPr>
          <p:cNvSpPr/>
          <p:nvPr/>
        </p:nvSpPr>
        <p:spPr>
          <a:xfrm>
            <a:off x="365760" y="685800"/>
            <a:ext cx="6492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E60C97-288B-3C4D-C0F2-A7BC1D71F4FF}"/>
              </a:ext>
            </a:extLst>
          </p:cNvPr>
          <p:cNvSpPr/>
          <p:nvPr/>
        </p:nvSpPr>
        <p:spPr>
          <a:xfrm>
            <a:off x="365760" y="685800"/>
            <a:ext cx="649224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B77B7A2-3CDC-9C5C-29BA-C381B162819D}"/>
              </a:ext>
            </a:extLst>
          </p:cNvPr>
          <p:cNvSpPr/>
          <p:nvPr/>
        </p:nvSpPr>
        <p:spPr>
          <a:xfrm>
            <a:off x="457200" y="685800"/>
            <a:ext cx="63093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Results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EE3F2D3-86A5-A0E1-D6BF-65D6EE44EFE9}"/>
              </a:ext>
            </a:extLst>
          </p:cNvPr>
          <p:cNvSpPr/>
          <p:nvPr/>
        </p:nvSpPr>
        <p:spPr>
          <a:xfrm>
            <a:off x="411480" y="1097280"/>
            <a:ext cx="237744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0AD69B0-8602-B12F-704A-8FF9E1880CB1}"/>
              </a:ext>
            </a:extLst>
          </p:cNvPr>
          <p:cNvSpPr/>
          <p:nvPr/>
        </p:nvSpPr>
        <p:spPr>
          <a:xfrm>
            <a:off x="457200" y="1097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F6429B9-A3FA-8E95-A468-409C5FB00DB6}"/>
              </a:ext>
            </a:extLst>
          </p:cNvPr>
          <p:cNvSpPr/>
          <p:nvPr/>
        </p:nvSpPr>
        <p:spPr>
          <a:xfrm>
            <a:off x="2788920" y="1097280"/>
            <a:ext cx="118872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09A71B1-BDF9-D3DC-CEBE-4CCB84DBEB8D}"/>
              </a:ext>
            </a:extLst>
          </p:cNvPr>
          <p:cNvSpPr/>
          <p:nvPr/>
        </p:nvSpPr>
        <p:spPr>
          <a:xfrm>
            <a:off x="2834640" y="1097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6357AC6-AF85-88A8-F61B-6F1F560E7CB6}"/>
              </a:ext>
            </a:extLst>
          </p:cNvPr>
          <p:cNvSpPr/>
          <p:nvPr/>
        </p:nvSpPr>
        <p:spPr>
          <a:xfrm>
            <a:off x="3977640" y="1097280"/>
            <a:ext cx="100584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A99B3AF-C8A2-87C1-99EC-B9793EB46522}"/>
              </a:ext>
            </a:extLst>
          </p:cNvPr>
          <p:cNvSpPr/>
          <p:nvPr/>
        </p:nvSpPr>
        <p:spPr>
          <a:xfrm>
            <a:off x="4023360" y="1097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55ADF6A-B1F7-6F89-EFE2-DED2914AC8DE}"/>
              </a:ext>
            </a:extLst>
          </p:cNvPr>
          <p:cNvSpPr/>
          <p:nvPr/>
        </p:nvSpPr>
        <p:spPr>
          <a:xfrm>
            <a:off x="4983480" y="1097280"/>
            <a:ext cx="182880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D816B8C-07C7-0CB1-715C-06F537206E35}"/>
              </a:ext>
            </a:extLst>
          </p:cNvPr>
          <p:cNvSpPr/>
          <p:nvPr/>
        </p:nvSpPr>
        <p:spPr>
          <a:xfrm>
            <a:off x="5029200" y="1097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503EF9B-4C34-2717-1233-7E8FFD313302}"/>
              </a:ext>
            </a:extLst>
          </p:cNvPr>
          <p:cNvSpPr/>
          <p:nvPr/>
        </p:nvSpPr>
        <p:spPr>
          <a:xfrm>
            <a:off x="411480" y="1490472"/>
            <a:ext cx="237744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2FDD03D-553A-1D38-8A46-82E1D5223B3D}"/>
              </a:ext>
            </a:extLst>
          </p:cNvPr>
          <p:cNvSpPr/>
          <p:nvPr/>
        </p:nvSpPr>
        <p:spPr>
          <a:xfrm>
            <a:off x="457200" y="1581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B869412-9370-A065-920F-00E79792DF21}"/>
              </a:ext>
            </a:extLst>
          </p:cNvPr>
          <p:cNvSpPr/>
          <p:nvPr/>
        </p:nvSpPr>
        <p:spPr>
          <a:xfrm>
            <a:off x="2788920" y="1490472"/>
            <a:ext cx="118872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7F77183-E48C-6A60-EC08-42E22BA40819}"/>
              </a:ext>
            </a:extLst>
          </p:cNvPr>
          <p:cNvSpPr/>
          <p:nvPr/>
        </p:nvSpPr>
        <p:spPr>
          <a:xfrm>
            <a:off x="2834640" y="15819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0.731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3D02CB0-A92A-36DC-C0DD-7EE3171A5365}"/>
              </a:ext>
            </a:extLst>
          </p:cNvPr>
          <p:cNvSpPr/>
          <p:nvPr/>
        </p:nvSpPr>
        <p:spPr>
          <a:xfrm>
            <a:off x="3977640" y="1490472"/>
            <a:ext cx="100584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27DC0EB-FDB1-2DD9-EA2E-84C513DAEDD7}"/>
              </a:ext>
            </a:extLst>
          </p:cNvPr>
          <p:cNvSpPr/>
          <p:nvPr/>
        </p:nvSpPr>
        <p:spPr>
          <a:xfrm>
            <a:off x="4023360" y="15819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0.582</a:t>
            </a: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95672E0-F7A6-01B6-8924-1732FF74DEF1}"/>
              </a:ext>
            </a:extLst>
          </p:cNvPr>
          <p:cNvSpPr/>
          <p:nvPr/>
        </p:nvSpPr>
        <p:spPr>
          <a:xfrm>
            <a:off x="4983480" y="1490472"/>
            <a:ext cx="182880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D86D371-9AD6-5EB3-15BF-30736E945C3F}"/>
              </a:ext>
            </a:extLst>
          </p:cNvPr>
          <p:cNvSpPr/>
          <p:nvPr/>
        </p:nvSpPr>
        <p:spPr>
          <a:xfrm>
            <a:off x="5029200" y="15819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AUC - baseline</a:t>
            </a:r>
            <a:endParaRPr lang="en-US" sz="12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6842402-7804-26EE-9489-8AFEAEFAADD1}"/>
              </a:ext>
            </a:extLst>
          </p:cNvPr>
          <p:cNvSpPr/>
          <p:nvPr/>
        </p:nvSpPr>
        <p:spPr>
          <a:xfrm>
            <a:off x="411480" y="2203704"/>
            <a:ext cx="23774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B0BF72E-A3FF-3ABE-6B19-DE42E0B6A53D}"/>
              </a:ext>
            </a:extLst>
          </p:cNvPr>
          <p:cNvSpPr/>
          <p:nvPr/>
        </p:nvSpPr>
        <p:spPr>
          <a:xfrm>
            <a:off x="457200" y="22951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CBCB482-33D6-E145-4979-0B9835AB5EB3}"/>
              </a:ext>
            </a:extLst>
          </p:cNvPr>
          <p:cNvSpPr/>
          <p:nvPr/>
        </p:nvSpPr>
        <p:spPr>
          <a:xfrm>
            <a:off x="2788920" y="2203704"/>
            <a:ext cx="1188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C8C47BB-A4CF-AD60-4798-1EC6B5E07151}"/>
              </a:ext>
            </a:extLst>
          </p:cNvPr>
          <p:cNvSpPr/>
          <p:nvPr/>
        </p:nvSpPr>
        <p:spPr>
          <a:xfrm>
            <a:off x="2834640" y="22951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0.712</a:t>
            </a:r>
            <a:endParaRPr lang="en-US" sz="12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F766E94-6EA0-D3AC-4F60-6B168AB6E90F}"/>
              </a:ext>
            </a:extLst>
          </p:cNvPr>
          <p:cNvSpPr/>
          <p:nvPr/>
        </p:nvSpPr>
        <p:spPr>
          <a:xfrm>
            <a:off x="3977640" y="2203704"/>
            <a:ext cx="1005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407E221-6734-B344-308E-5BDD1FE344FF}"/>
              </a:ext>
            </a:extLst>
          </p:cNvPr>
          <p:cNvSpPr/>
          <p:nvPr/>
        </p:nvSpPr>
        <p:spPr>
          <a:xfrm>
            <a:off x="4023360" y="22951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0.427</a:t>
            </a:r>
            <a:endParaRPr lang="en-US" sz="12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67651F8-D735-AF02-693D-8F0675B4F7D4}"/>
              </a:ext>
            </a:extLst>
          </p:cNvPr>
          <p:cNvSpPr/>
          <p:nvPr/>
        </p:nvSpPr>
        <p:spPr>
          <a:xfrm>
            <a:off x="4983480" y="2203704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FB338A4-6EB8-94CC-8C36-34A5609B2AAA}"/>
              </a:ext>
            </a:extLst>
          </p:cNvPr>
          <p:cNvSpPr/>
          <p:nvPr/>
        </p:nvSpPr>
        <p:spPr>
          <a:xfrm>
            <a:off x="5029200" y="22951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recall</a:t>
            </a:r>
            <a:endParaRPr lang="en-US" sz="12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C007030-5FC7-37B4-6D43-FB367E4F75DF}"/>
              </a:ext>
            </a:extLst>
          </p:cNvPr>
          <p:cNvSpPr/>
          <p:nvPr/>
        </p:nvSpPr>
        <p:spPr>
          <a:xfrm>
            <a:off x="411480" y="2916936"/>
            <a:ext cx="2377440" cy="64008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EBF24DF-E8DC-B8D9-64BD-FC67456899D1}"/>
              </a:ext>
            </a:extLst>
          </p:cNvPr>
          <p:cNvSpPr/>
          <p:nvPr/>
        </p:nvSpPr>
        <p:spPr>
          <a:xfrm>
            <a:off x="457200" y="30083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✓ Deployed</a:t>
            </a:r>
            <a:endParaRPr lang="en-US" sz="10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43B7600-FB13-FCA2-BE84-41E458AAAFEA}"/>
              </a:ext>
            </a:extLst>
          </p:cNvPr>
          <p:cNvSpPr/>
          <p:nvPr/>
        </p:nvSpPr>
        <p:spPr>
          <a:xfrm>
            <a:off x="2788920" y="2916936"/>
            <a:ext cx="1188720" cy="64008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18D2016F-5A35-2445-1BD7-0D04EFDB672E}"/>
              </a:ext>
            </a:extLst>
          </p:cNvPr>
          <p:cNvSpPr/>
          <p:nvPr/>
        </p:nvSpPr>
        <p:spPr>
          <a:xfrm>
            <a:off x="2834640" y="30083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0.718</a:t>
            </a:r>
            <a:endParaRPr lang="en-US" sz="12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15FB0F6-8634-09CC-0033-287A91F90FB9}"/>
              </a:ext>
            </a:extLst>
          </p:cNvPr>
          <p:cNvSpPr/>
          <p:nvPr/>
        </p:nvSpPr>
        <p:spPr>
          <a:xfrm>
            <a:off x="3977640" y="2916936"/>
            <a:ext cx="1005840" cy="64008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AD0B21F-434E-32BE-8427-36EDBC02AC42}"/>
              </a:ext>
            </a:extLst>
          </p:cNvPr>
          <p:cNvSpPr/>
          <p:nvPr/>
        </p:nvSpPr>
        <p:spPr>
          <a:xfrm>
            <a:off x="4023360" y="30083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0.638</a:t>
            </a:r>
            <a:endParaRPr lang="en-US" sz="12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82BAA98-103C-076C-06C5-550DB2A81B36}"/>
              </a:ext>
            </a:extLst>
          </p:cNvPr>
          <p:cNvSpPr/>
          <p:nvPr/>
        </p:nvSpPr>
        <p:spPr>
          <a:xfrm>
            <a:off x="4983480" y="2916936"/>
            <a:ext cx="1828800" cy="64008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AA6A6A7F-0361-B8E0-0FEA-4E0C3A3F0981}"/>
              </a:ext>
            </a:extLst>
          </p:cNvPr>
          <p:cNvSpPr/>
          <p:nvPr/>
        </p:nvSpPr>
        <p:spPr>
          <a:xfrm>
            <a:off x="5029200" y="30083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 — selected</a:t>
            </a:r>
            <a:endParaRPr lang="en-US" sz="12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B2B728DD-E357-F72D-00BD-231B60611B13}"/>
              </a:ext>
            </a:extLst>
          </p:cNvPr>
          <p:cNvSpPr/>
          <p:nvPr/>
        </p:nvSpPr>
        <p:spPr>
          <a:xfrm>
            <a:off x="365760" y="2971800"/>
            <a:ext cx="6492240" cy="960120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99D2814-A667-1982-A2E8-09B7E8CF0C20}"/>
              </a:ext>
            </a:extLst>
          </p:cNvPr>
          <p:cNvSpPr/>
          <p:nvPr/>
        </p:nvSpPr>
        <p:spPr>
          <a:xfrm>
            <a:off x="502920" y="3017520"/>
            <a:ext cx="6217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Why is AUC ~0.72 and not 0.85?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CAS lacks crash hour, driver speed, and alcohol data — the key severity predictors identified in literature. This is a </a:t>
            </a: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ceiling, not a model failure.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three models converge at ~0.71–0.73, confirming the dataset has been exhausted from a feature perspective. XGBoost is selected for its superior recall (63.8%) — the operationally critical metric for safety-focused use.</a:t>
            </a:r>
            <a:endParaRPr lang="en-US" sz="10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3C0D0D1B-BD63-4EF1-BDBE-96A1DD16F572}"/>
              </a:ext>
            </a:extLst>
          </p:cNvPr>
          <p:cNvSpPr/>
          <p:nvPr/>
        </p:nvSpPr>
        <p:spPr>
          <a:xfrm>
            <a:off x="7132320" y="685800"/>
            <a:ext cx="4663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AE3C961F-96A5-0C2B-EFAA-D1D3FA044BE8}"/>
              </a:ext>
            </a:extLst>
          </p:cNvPr>
          <p:cNvSpPr/>
          <p:nvPr/>
        </p:nvSpPr>
        <p:spPr>
          <a:xfrm>
            <a:off x="7132320" y="685800"/>
            <a:ext cx="4663440" cy="3657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88003A7-85AB-02AB-14AE-85A8E2990332}"/>
              </a:ext>
            </a:extLst>
          </p:cNvPr>
          <p:cNvSpPr/>
          <p:nvPr/>
        </p:nvSpPr>
        <p:spPr>
          <a:xfrm>
            <a:off x="7223760" y="685800"/>
            <a:ext cx="44805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 (Top 6)</a:t>
            </a:r>
            <a:endParaRPr lang="en-US" sz="12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3B3BC5FE-2125-38BC-6343-72E3B12B188F}"/>
              </a:ext>
            </a:extLst>
          </p:cNvPr>
          <p:cNvSpPr/>
          <p:nvPr/>
        </p:nvSpPr>
        <p:spPr>
          <a:xfrm>
            <a:off x="7223760" y="11704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Conditions</a:t>
            </a:r>
            <a:endParaRPr lang="en-US" sz="95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DCBB53CD-E9EA-DCB9-41FE-C58D290E6114}"/>
              </a:ext>
            </a:extLst>
          </p:cNvPr>
          <p:cNvSpPr/>
          <p:nvPr/>
        </p:nvSpPr>
        <p:spPr>
          <a:xfrm>
            <a:off x="9418320" y="1197864"/>
            <a:ext cx="241950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AC639EF-D9E1-C1A8-044E-029332A77D18}"/>
              </a:ext>
            </a:extLst>
          </p:cNvPr>
          <p:cNvSpPr/>
          <p:nvPr/>
        </p:nvSpPr>
        <p:spPr>
          <a:xfrm>
            <a:off x="11883542" y="11704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8194E997-5F90-87B3-F4C2-4CAEFE729CBF}"/>
              </a:ext>
            </a:extLst>
          </p:cNvPr>
          <p:cNvSpPr/>
          <p:nvPr/>
        </p:nvSpPr>
        <p:spPr>
          <a:xfrm>
            <a:off x="7223760" y="15179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User Involv.</a:t>
            </a:r>
            <a:endParaRPr lang="en-US" sz="9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6EF5AABD-C6D1-432C-FF9E-9D2D6CC81C67}"/>
              </a:ext>
            </a:extLst>
          </p:cNvPr>
          <p:cNvSpPr/>
          <p:nvPr/>
        </p:nvSpPr>
        <p:spPr>
          <a:xfrm>
            <a:off x="9418320" y="1545336"/>
            <a:ext cx="2265883" cy="23774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00DCFC8B-B3F9-149A-6101-EE403A33F902}"/>
              </a:ext>
            </a:extLst>
          </p:cNvPr>
          <p:cNvSpPr/>
          <p:nvPr/>
        </p:nvSpPr>
        <p:spPr>
          <a:xfrm>
            <a:off x="11729923" y="15179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9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7A14CB29-352C-8C11-77B1-D6E3B01AE547}"/>
              </a:ext>
            </a:extLst>
          </p:cNvPr>
          <p:cNvSpPr/>
          <p:nvPr/>
        </p:nvSpPr>
        <p:spPr>
          <a:xfrm>
            <a:off x="7223760" y="18653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Visibility</a:t>
            </a:r>
            <a:endParaRPr lang="en-US" sz="95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A84D4B4D-F9FD-8CCC-2601-BAEE6FE7E6D0}"/>
              </a:ext>
            </a:extLst>
          </p:cNvPr>
          <p:cNvSpPr/>
          <p:nvPr/>
        </p:nvSpPr>
        <p:spPr>
          <a:xfrm>
            <a:off x="9418320" y="1892808"/>
            <a:ext cx="1459382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B7F73D14-7BF2-E595-92BF-7646B4A392E8}"/>
              </a:ext>
            </a:extLst>
          </p:cNvPr>
          <p:cNvSpPr/>
          <p:nvPr/>
        </p:nvSpPr>
        <p:spPr>
          <a:xfrm>
            <a:off x="10923422" y="1865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9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E61911EA-7926-7D5B-A0A9-94351364C8CB}"/>
              </a:ext>
            </a:extLst>
          </p:cNvPr>
          <p:cNvSpPr/>
          <p:nvPr/>
        </p:nvSpPr>
        <p:spPr>
          <a:xfrm>
            <a:off x="7223760" y="22128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Lanes</a:t>
            </a:r>
            <a:endParaRPr lang="en-US" sz="95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6C7E22FC-CE1B-3B85-CC49-09FE4A82828B}"/>
              </a:ext>
            </a:extLst>
          </p:cNvPr>
          <p:cNvSpPr/>
          <p:nvPr/>
        </p:nvSpPr>
        <p:spPr>
          <a:xfrm>
            <a:off x="9418320" y="2240280"/>
            <a:ext cx="1228954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593578A1-540A-7310-2AC0-7CEE25DFDD47}"/>
              </a:ext>
            </a:extLst>
          </p:cNvPr>
          <p:cNvSpPr/>
          <p:nvPr/>
        </p:nvSpPr>
        <p:spPr>
          <a:xfrm>
            <a:off x="10692994" y="22128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9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99B76C86-7CA8-F73A-1DE5-A386794B2D33}"/>
              </a:ext>
            </a:extLst>
          </p:cNvPr>
          <p:cNvSpPr/>
          <p:nvPr/>
        </p:nvSpPr>
        <p:spPr>
          <a:xfrm>
            <a:off x="7223760" y="2560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95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9335895C-4B9C-7EAD-15EA-17B9F0AA6845}"/>
              </a:ext>
            </a:extLst>
          </p:cNvPr>
          <p:cNvSpPr/>
          <p:nvPr/>
        </p:nvSpPr>
        <p:spPr>
          <a:xfrm>
            <a:off x="9418320" y="2587752"/>
            <a:ext cx="1190549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266CF214-1160-1739-43DA-5C26D1742FDD}"/>
              </a:ext>
            </a:extLst>
          </p:cNvPr>
          <p:cNvSpPr/>
          <p:nvPr/>
        </p:nvSpPr>
        <p:spPr>
          <a:xfrm>
            <a:off x="10654589" y="25603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9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0354154E-D8EF-E8AE-85EA-C45CE2CF2097}"/>
              </a:ext>
            </a:extLst>
          </p:cNvPr>
          <p:cNvSpPr/>
          <p:nvPr/>
        </p:nvSpPr>
        <p:spPr>
          <a:xfrm>
            <a:off x="7223760" y="29077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Conditions</a:t>
            </a:r>
            <a:endParaRPr lang="en-US" sz="9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BD918835-4855-22F7-8897-82FA4AE8B916}"/>
              </a:ext>
            </a:extLst>
          </p:cNvPr>
          <p:cNvSpPr/>
          <p:nvPr/>
        </p:nvSpPr>
        <p:spPr>
          <a:xfrm>
            <a:off x="9418320" y="2935224"/>
            <a:ext cx="1152144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87BEAD31-337B-700A-7067-B65EE6F4A750}"/>
              </a:ext>
            </a:extLst>
          </p:cNvPr>
          <p:cNvSpPr/>
          <p:nvPr/>
        </p:nvSpPr>
        <p:spPr>
          <a:xfrm>
            <a:off x="10616184" y="29077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90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A8735A8F-96DB-5688-3D43-C67A1963E9BC}"/>
              </a:ext>
            </a:extLst>
          </p:cNvPr>
          <p:cNvSpPr/>
          <p:nvPr/>
        </p:nvSpPr>
        <p:spPr>
          <a:xfrm>
            <a:off x="7132320" y="4069080"/>
            <a:ext cx="4663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E7D32F6D-E44A-B120-C50C-C111D0337552}"/>
              </a:ext>
            </a:extLst>
          </p:cNvPr>
          <p:cNvSpPr/>
          <p:nvPr/>
        </p:nvSpPr>
        <p:spPr>
          <a:xfrm>
            <a:off x="7132320" y="4069080"/>
            <a:ext cx="466344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A1239039-73F4-71AD-E5D0-672B5CE2D28A}"/>
              </a:ext>
            </a:extLst>
          </p:cNvPr>
          <p:cNvSpPr/>
          <p:nvPr/>
        </p:nvSpPr>
        <p:spPr>
          <a:xfrm>
            <a:off x="7223760" y="4069080"/>
            <a:ext cx="44805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200" dirty="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CE14C5AB-5186-47DE-8609-754B4061D75B}"/>
              </a:ext>
            </a:extLst>
          </p:cNvPr>
          <p:cNvSpPr/>
          <p:nvPr/>
        </p:nvSpPr>
        <p:spPr>
          <a:xfrm>
            <a:off x="7269480" y="4462272"/>
            <a:ext cx="4389120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AUC:  0.718 ± 0.009
CV Recall: 0.635 ± 0.012
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std confirms: no overfitting — results generalise</a:t>
            </a:r>
            <a:endParaRPr lang="en-US" sz="130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763C8F2D-5F8A-7133-43A5-C1798A118224}"/>
              </a:ext>
            </a:extLst>
          </p:cNvPr>
          <p:cNvSpPr/>
          <p:nvPr/>
        </p:nvSpPr>
        <p:spPr>
          <a:xfrm>
            <a:off x="365760" y="4069080"/>
            <a:ext cx="6492240" cy="2011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05872072-24AD-28BE-A5CC-5C67BE0CAA69}"/>
              </a:ext>
            </a:extLst>
          </p:cNvPr>
          <p:cNvSpPr/>
          <p:nvPr/>
        </p:nvSpPr>
        <p:spPr>
          <a:xfrm>
            <a:off x="502920" y="411480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Decision: Why XGBoost?</a:t>
            </a:r>
            <a:endParaRPr lang="en-US" sz="120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3C9F5D93-3EEE-20EE-7559-556214EAA2B3}"/>
              </a:ext>
            </a:extLst>
          </p:cNvPr>
          <p:cNvSpPr/>
          <p:nvPr/>
        </p:nvSpPr>
        <p:spPr>
          <a:xfrm>
            <a:off x="502920" y="4480560"/>
            <a:ext cx="62179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Recall = 63.8%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Identifies 6 in 10 actual severe crashes - critical for safety patrol routing
</a:t>
            </a: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high_risk_flag applied at threshold = 0.35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Flags 38% of crashes for enhanced attention with manageable false positive rate</a:t>
            </a:r>
            <a:endParaRPr lang="en-US" sz="1100" dirty="0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EAD23D50-BC3A-5DF5-E879-50B7BD87FDCA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800" dirty="0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8F28FD4C-4182-0C37-4C6B-18AFA8493CA6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800" dirty="0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DD736014-32FB-1DAA-6548-54200DDE2E4A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25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1FE272-4E0E-F859-07CA-BC87A7B9BD1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0BDAED-4B31-9746-E2DC-3CE0FDBE9EE5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04c  Findings 3 &amp; 4 - Temporal Patterns &amp; Vulnerable User Risk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B6B9FCD-4C99-8949-95D1-FCB7E0481D31}"/>
              </a:ext>
            </a:extLst>
          </p:cNvPr>
          <p:cNvSpPr/>
          <p:nvPr/>
        </p:nvSpPr>
        <p:spPr>
          <a:xfrm>
            <a:off x="297180" y="722376"/>
            <a:ext cx="585216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E1D4721-DD01-528F-6944-791AD2C7FB2A}"/>
              </a:ext>
            </a:extLst>
          </p:cNvPr>
          <p:cNvSpPr/>
          <p:nvPr/>
        </p:nvSpPr>
        <p:spPr>
          <a:xfrm>
            <a:off x="365760" y="713232"/>
            <a:ext cx="566928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D33D8D-F1A0-D862-9176-D8EC85834F93}"/>
              </a:ext>
            </a:extLst>
          </p:cNvPr>
          <p:cNvSpPr/>
          <p:nvPr/>
        </p:nvSpPr>
        <p:spPr>
          <a:xfrm>
            <a:off x="457200" y="713232"/>
            <a:ext cx="5486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RQ3 - Holiday Period &amp; Temporal Patterns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C76ECEA-ADD3-63D9-3738-A49C7B6D1BD0}"/>
              </a:ext>
            </a:extLst>
          </p:cNvPr>
          <p:cNvSpPr/>
          <p:nvPr/>
        </p:nvSpPr>
        <p:spPr>
          <a:xfrm>
            <a:off x="548640" y="1207008"/>
            <a:ext cx="2468880" cy="914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AB9FC1A-FB96-EEE9-A703-6620EC92C3B6}"/>
              </a:ext>
            </a:extLst>
          </p:cNvPr>
          <p:cNvSpPr/>
          <p:nvPr/>
        </p:nvSpPr>
        <p:spPr>
          <a:xfrm>
            <a:off x="548640" y="1252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χ²=10.09</a:t>
            </a:r>
            <a:endParaRPr lang="en-US" sz="3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B3C6A38-9E62-6A83-A370-857F059FFBA0}"/>
              </a:ext>
            </a:extLst>
          </p:cNvPr>
          <p:cNvSpPr/>
          <p:nvPr/>
        </p:nvSpPr>
        <p:spPr>
          <a:xfrm>
            <a:off x="548640" y="1709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p=0.018 ✅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810ADE3-A4DF-D78C-6833-0D02CC7CCC26}"/>
              </a:ext>
            </a:extLst>
          </p:cNvPr>
          <p:cNvSpPr/>
          <p:nvPr/>
        </p:nvSpPr>
        <p:spPr>
          <a:xfrm>
            <a:off x="3246120" y="1207008"/>
            <a:ext cx="2468880" cy="9144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6943A69-5B5A-C7B3-F122-ED466E438650}"/>
              </a:ext>
            </a:extLst>
          </p:cNvPr>
          <p:cNvSpPr/>
          <p:nvPr/>
        </p:nvSpPr>
        <p:spPr>
          <a:xfrm>
            <a:off x="3246120" y="1252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V=0.0095</a:t>
            </a:r>
            <a:endParaRPr lang="en-US" sz="3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F23B35-BADD-EDE5-B275-F9BE30ADC41B}"/>
              </a:ext>
            </a:extLst>
          </p:cNvPr>
          <p:cNvSpPr/>
          <p:nvPr/>
        </p:nvSpPr>
        <p:spPr>
          <a:xfrm>
            <a:off x="3246120" y="1709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effect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4D607D0-4C70-1489-A50E-6C7D4A030A29}"/>
              </a:ext>
            </a:extLst>
          </p:cNvPr>
          <p:cNvSpPr/>
          <p:nvPr/>
        </p:nvSpPr>
        <p:spPr>
          <a:xfrm>
            <a:off x="457200" y="2286000"/>
            <a:ext cx="21945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5736166-4A22-32DD-0704-A942250318DB}"/>
              </a:ext>
            </a:extLst>
          </p:cNvPr>
          <p:cNvSpPr/>
          <p:nvPr/>
        </p:nvSpPr>
        <p:spPr>
          <a:xfrm>
            <a:off x="4572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Weekend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3483CAA-3118-4288-1F6C-FB21271B846B}"/>
              </a:ext>
            </a:extLst>
          </p:cNvPr>
          <p:cNvSpPr/>
          <p:nvPr/>
        </p:nvSpPr>
        <p:spPr>
          <a:xfrm>
            <a:off x="2697480" y="2368296"/>
            <a:ext cx="3024378" cy="31089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B2304E3-7652-F7CC-B0AC-9E3633B43A75}"/>
              </a:ext>
            </a:extLst>
          </p:cNvPr>
          <p:cNvSpPr/>
          <p:nvPr/>
        </p:nvSpPr>
        <p:spPr>
          <a:xfrm>
            <a:off x="5811012" y="231810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A38CAEE-83E5-3396-E3A4-440F9DBB1270}"/>
              </a:ext>
            </a:extLst>
          </p:cNvPr>
          <p:cNvSpPr/>
          <p:nvPr/>
        </p:nvSpPr>
        <p:spPr>
          <a:xfrm>
            <a:off x="5310378" y="205518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+1.47pp</a:t>
            </a:r>
            <a:endParaRPr lang="en-US" sz="9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9485E20-25AD-F8BE-EBC4-3833B1DBDB8D}"/>
              </a:ext>
            </a:extLst>
          </p:cNvPr>
          <p:cNvSpPr/>
          <p:nvPr/>
        </p:nvSpPr>
        <p:spPr>
          <a:xfrm>
            <a:off x="457200" y="2898648"/>
            <a:ext cx="21945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2EBBB40-4DB4-80E8-C906-7E76A4E9E308}"/>
              </a:ext>
            </a:extLst>
          </p:cNvPr>
          <p:cNvSpPr/>
          <p:nvPr/>
        </p:nvSpPr>
        <p:spPr>
          <a:xfrm>
            <a:off x="457200" y="29626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</a:t>
            </a:r>
            <a:endParaRPr lang="en-US" sz="1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1DE4427-249A-A703-DE20-EF639D305C5E}"/>
              </a:ext>
            </a:extLst>
          </p:cNvPr>
          <p:cNvSpPr/>
          <p:nvPr/>
        </p:nvSpPr>
        <p:spPr>
          <a:xfrm>
            <a:off x="2697480" y="2980944"/>
            <a:ext cx="2784348" cy="31089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8EE3517-DA79-39BC-A9CD-4BCBDB768DA6}"/>
              </a:ext>
            </a:extLst>
          </p:cNvPr>
          <p:cNvSpPr/>
          <p:nvPr/>
        </p:nvSpPr>
        <p:spPr>
          <a:xfrm>
            <a:off x="5536692" y="296265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BBF0EC1-FDE2-70E7-DE0A-6C44FA0F5543}"/>
              </a:ext>
            </a:extLst>
          </p:cNvPr>
          <p:cNvSpPr/>
          <p:nvPr/>
        </p:nvSpPr>
        <p:spPr>
          <a:xfrm>
            <a:off x="5406390" y="2963295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+1.0pp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8111725-364F-1F0C-9BC4-F7DBF2C7971A}"/>
              </a:ext>
            </a:extLst>
          </p:cNvPr>
          <p:cNvSpPr/>
          <p:nvPr/>
        </p:nvSpPr>
        <p:spPr>
          <a:xfrm>
            <a:off x="457200" y="3511296"/>
            <a:ext cx="21945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FE3B9F7-9F9C-F7EF-52C7-2B2DCC12E331}"/>
              </a:ext>
            </a:extLst>
          </p:cNvPr>
          <p:cNvSpPr/>
          <p:nvPr/>
        </p:nvSpPr>
        <p:spPr>
          <a:xfrm>
            <a:off x="457200" y="35753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Christmas/NY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FC799D2-2E3C-A35B-3C7E-5C278B203F53}"/>
              </a:ext>
            </a:extLst>
          </p:cNvPr>
          <p:cNvSpPr/>
          <p:nvPr/>
        </p:nvSpPr>
        <p:spPr>
          <a:xfrm>
            <a:off x="2697480" y="3593592"/>
            <a:ext cx="2688336" cy="31089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AF3E214-A49D-8E81-B14F-950D4DF27CCB}"/>
              </a:ext>
            </a:extLst>
          </p:cNvPr>
          <p:cNvSpPr/>
          <p:nvPr/>
        </p:nvSpPr>
        <p:spPr>
          <a:xfrm>
            <a:off x="5440680" y="357530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32687C3-9C47-2205-CFB0-03896B294353}"/>
              </a:ext>
            </a:extLst>
          </p:cNvPr>
          <p:cNvSpPr/>
          <p:nvPr/>
        </p:nvSpPr>
        <p:spPr>
          <a:xfrm>
            <a:off x="5310378" y="35661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+0.8pp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318EA66-FA99-88C6-78D4-133C643AE149}"/>
              </a:ext>
            </a:extLst>
          </p:cNvPr>
          <p:cNvSpPr/>
          <p:nvPr/>
        </p:nvSpPr>
        <p:spPr>
          <a:xfrm>
            <a:off x="457200" y="4123944"/>
            <a:ext cx="21945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2F8A989-4D58-C436-6BDB-AD25EDCAE02A}"/>
              </a:ext>
            </a:extLst>
          </p:cNvPr>
          <p:cNvSpPr/>
          <p:nvPr/>
        </p:nvSpPr>
        <p:spPr>
          <a:xfrm>
            <a:off x="457200" y="41879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Queen's Birthday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A6E7E8F-E45E-78A9-3944-C0B84163FC8E}"/>
              </a:ext>
            </a:extLst>
          </p:cNvPr>
          <p:cNvSpPr/>
          <p:nvPr/>
        </p:nvSpPr>
        <p:spPr>
          <a:xfrm>
            <a:off x="2697480" y="4206240"/>
            <a:ext cx="2496312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95B1AC6-7BEA-F578-C7BC-44192023EF5B}"/>
              </a:ext>
            </a:extLst>
          </p:cNvPr>
          <p:cNvSpPr/>
          <p:nvPr/>
        </p:nvSpPr>
        <p:spPr>
          <a:xfrm>
            <a:off x="5248656" y="41879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48B1A8F-0F4E-3F86-CA9E-FE723C8DFCA3}"/>
              </a:ext>
            </a:extLst>
          </p:cNvPr>
          <p:cNvSpPr/>
          <p:nvPr/>
        </p:nvSpPr>
        <p:spPr>
          <a:xfrm>
            <a:off x="5125212" y="416838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+0.4pp</a:t>
            </a:r>
            <a:endParaRPr lang="en-US" sz="9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40575591-DDAA-ED08-4174-913BDF8A100A}"/>
              </a:ext>
            </a:extLst>
          </p:cNvPr>
          <p:cNvSpPr/>
          <p:nvPr/>
        </p:nvSpPr>
        <p:spPr>
          <a:xfrm>
            <a:off x="457200" y="4736592"/>
            <a:ext cx="21945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8966011-B8FB-C9D5-5572-EB008F53FB34}"/>
              </a:ext>
            </a:extLst>
          </p:cNvPr>
          <p:cNvSpPr/>
          <p:nvPr/>
        </p:nvSpPr>
        <p:spPr>
          <a:xfrm>
            <a:off x="457200" y="48006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Non-Holiday</a:t>
            </a:r>
            <a:endParaRPr lang="en-US" sz="10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C782F06-FD4C-E009-6FD7-6D41F70C3EA9}"/>
              </a:ext>
            </a:extLst>
          </p:cNvPr>
          <p:cNvSpPr/>
          <p:nvPr/>
        </p:nvSpPr>
        <p:spPr>
          <a:xfrm>
            <a:off x="2697480" y="4818888"/>
            <a:ext cx="2304288" cy="31089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78DC729-6069-DCE7-EC5D-33F1402F6CAC}"/>
              </a:ext>
            </a:extLst>
          </p:cNvPr>
          <p:cNvSpPr/>
          <p:nvPr/>
        </p:nvSpPr>
        <p:spPr>
          <a:xfrm>
            <a:off x="5056632" y="48006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11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BFDEED5-098B-CBC1-5199-465C03D3FA2B}"/>
              </a:ext>
            </a:extLst>
          </p:cNvPr>
          <p:cNvSpPr/>
          <p:nvPr/>
        </p:nvSpPr>
        <p:spPr>
          <a:xfrm>
            <a:off x="4937760" y="48006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F3BEBFEB-2D83-C119-0A22-D8CB7170467F}"/>
              </a:ext>
            </a:extLst>
          </p:cNvPr>
          <p:cNvSpPr/>
          <p:nvPr/>
        </p:nvSpPr>
        <p:spPr>
          <a:xfrm>
            <a:off x="457200" y="5440680"/>
            <a:ext cx="5394960" cy="749808"/>
          </a:xfrm>
          <a:prstGeom prst="rect">
            <a:avLst/>
          </a:prstGeom>
          <a:solidFill>
            <a:srgbClr val="FEF9C3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A2A8426-52BC-1C4D-F573-F27E08770A24}"/>
              </a:ext>
            </a:extLst>
          </p:cNvPr>
          <p:cNvSpPr/>
          <p:nvPr/>
        </p:nvSpPr>
        <p:spPr>
          <a:xfrm>
            <a:off x="548640" y="5486400"/>
            <a:ext cx="5212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Note: </a:t>
            </a: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hour is NOT available in the public NZTA CAS dataset. Temporal analysis is limited to annual trends and holiday-period comparisons. Time-of-day patterns cannot be assessed from this data source alone.</a:t>
            </a:r>
            <a:endParaRPr lang="en-US" sz="9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D910E06-5131-039C-ADB5-79CFF22453A0}"/>
              </a:ext>
            </a:extLst>
          </p:cNvPr>
          <p:cNvSpPr/>
          <p:nvPr/>
        </p:nvSpPr>
        <p:spPr>
          <a:xfrm>
            <a:off x="6248400" y="699516"/>
            <a:ext cx="54864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EFF19C4D-E411-59B3-4348-B758EC8C44ED}"/>
              </a:ext>
            </a:extLst>
          </p:cNvPr>
          <p:cNvSpPr/>
          <p:nvPr/>
        </p:nvSpPr>
        <p:spPr>
          <a:xfrm>
            <a:off x="6309360" y="713232"/>
            <a:ext cx="5486400" cy="38404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B2BD9DE5-DCD8-A1C3-0A96-A7CC96D93CD6}"/>
              </a:ext>
            </a:extLst>
          </p:cNvPr>
          <p:cNvSpPr/>
          <p:nvPr/>
        </p:nvSpPr>
        <p:spPr>
          <a:xfrm>
            <a:off x="6400800" y="713232"/>
            <a:ext cx="5303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RQ4 - Vulnerable User Risk (8.95× Relative Risk)</a:t>
            </a:r>
            <a:endParaRPr lang="en-US" sz="12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872B5976-E678-7AE8-63AF-5558AEBE71E6}"/>
              </a:ext>
            </a:extLst>
          </p:cNvPr>
          <p:cNvSpPr/>
          <p:nvPr/>
        </p:nvSpPr>
        <p:spPr>
          <a:xfrm>
            <a:off x="6492240" y="1207008"/>
            <a:ext cx="5120640" cy="10058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7CE35BA0-0545-773D-BBFE-D0FDBC05F4E8}"/>
              </a:ext>
            </a:extLst>
          </p:cNvPr>
          <p:cNvSpPr/>
          <p:nvPr/>
        </p:nvSpPr>
        <p:spPr>
          <a:xfrm>
            <a:off x="6492240" y="1234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8.95×</a:t>
            </a:r>
            <a:endParaRPr lang="en-US" sz="44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5C7D0E81-016C-AE06-DBC8-7447456458A9}"/>
              </a:ext>
            </a:extLst>
          </p:cNvPr>
          <p:cNvSpPr/>
          <p:nvPr/>
        </p:nvSpPr>
        <p:spPr>
          <a:xfrm>
            <a:off x="8366760" y="1234440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result in fatal or serious injury
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severe rate: 23.7%  vs  Non-VU: 2.6%</a:t>
            </a:r>
            <a:endParaRPr lang="en-US" sz="13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DF7AD6B0-C9EF-8622-999B-C01FE28C83A7}"/>
              </a:ext>
            </a:extLst>
          </p:cNvPr>
          <p:cNvSpPr/>
          <p:nvPr/>
        </p:nvSpPr>
        <p:spPr>
          <a:xfrm>
            <a:off x="6446520" y="2359152"/>
            <a:ext cx="516636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C1150928-B049-E9DE-49D0-007F42813754}"/>
              </a:ext>
            </a:extLst>
          </p:cNvPr>
          <p:cNvSpPr/>
          <p:nvPr/>
        </p:nvSpPr>
        <p:spPr>
          <a:xfrm>
            <a:off x="6446520" y="2359152"/>
            <a:ext cx="18288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0DCF56F6-1ECE-ADF8-80FC-D375AE00B355}"/>
              </a:ext>
            </a:extLst>
          </p:cNvPr>
          <p:cNvSpPr/>
          <p:nvPr/>
        </p:nvSpPr>
        <p:spPr>
          <a:xfrm>
            <a:off x="6720840" y="2404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</a:t>
            </a:r>
            <a:endParaRPr lang="en-US" sz="11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9FFD8448-FB50-4BC8-B55B-A205C3A60F93}"/>
              </a:ext>
            </a:extLst>
          </p:cNvPr>
          <p:cNvSpPr/>
          <p:nvPr/>
        </p:nvSpPr>
        <p:spPr>
          <a:xfrm>
            <a:off x="6720840" y="26700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4,598</a:t>
            </a:r>
            <a:endParaRPr lang="en-US" sz="10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ACD499C-804C-977A-8CC7-BE9827353FE0}"/>
              </a:ext>
            </a:extLst>
          </p:cNvPr>
          <p:cNvSpPr/>
          <p:nvPr/>
        </p:nvSpPr>
        <p:spPr>
          <a:xfrm>
            <a:off x="832104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CBD concentration</a:t>
            </a:r>
            <a:endParaRPr lang="en-US" sz="10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4226A8C8-573A-FFA4-213F-340AFBE4F520}"/>
              </a:ext>
            </a:extLst>
          </p:cNvPr>
          <p:cNvSpPr/>
          <p:nvPr/>
        </p:nvSpPr>
        <p:spPr>
          <a:xfrm>
            <a:off x="6446520" y="3044952"/>
            <a:ext cx="516636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3CE66C4-191B-3F0C-E4C9-CB77C5B49EC5}"/>
              </a:ext>
            </a:extLst>
          </p:cNvPr>
          <p:cNvSpPr/>
          <p:nvPr/>
        </p:nvSpPr>
        <p:spPr>
          <a:xfrm>
            <a:off x="6446520" y="3044952"/>
            <a:ext cx="182880" cy="5943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FA1211E9-1979-92A8-A2DE-AB81AEB162FF}"/>
              </a:ext>
            </a:extLst>
          </p:cNvPr>
          <p:cNvSpPr/>
          <p:nvPr/>
        </p:nvSpPr>
        <p:spPr>
          <a:xfrm>
            <a:off x="6720840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Motorcyclist</a:t>
            </a:r>
            <a:endParaRPr lang="en-US" sz="110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55E24F65-A270-F673-C58D-9D1675BD45F3}"/>
              </a:ext>
            </a:extLst>
          </p:cNvPr>
          <p:cNvSpPr/>
          <p:nvPr/>
        </p:nvSpPr>
        <p:spPr>
          <a:xfrm>
            <a:off x="6720840" y="33558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4,573</a:t>
            </a:r>
            <a:endParaRPr lang="en-US" sz="10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2B4EFD3F-C31F-34E0-E19A-A6C5E7FC0626}"/>
              </a:ext>
            </a:extLst>
          </p:cNvPr>
          <p:cNvSpPr/>
          <p:nvPr/>
        </p:nvSpPr>
        <p:spPr>
          <a:xfrm>
            <a:off x="832104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geographic spread</a:t>
            </a:r>
            <a:endParaRPr lang="en-US" sz="10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30405C2B-9F8C-3037-1A36-6056D2BC20D8}"/>
              </a:ext>
            </a:extLst>
          </p:cNvPr>
          <p:cNvSpPr/>
          <p:nvPr/>
        </p:nvSpPr>
        <p:spPr>
          <a:xfrm>
            <a:off x="6446520" y="3730752"/>
            <a:ext cx="516636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1D0B2294-F221-BCC2-F97F-684A97874DD4}"/>
              </a:ext>
            </a:extLst>
          </p:cNvPr>
          <p:cNvSpPr/>
          <p:nvPr/>
        </p:nvSpPr>
        <p:spPr>
          <a:xfrm>
            <a:off x="6446520" y="3730752"/>
            <a:ext cx="182880" cy="5943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E0B00DE5-8523-04C2-03A2-2A33683E9542}"/>
              </a:ext>
            </a:extLst>
          </p:cNvPr>
          <p:cNvSpPr/>
          <p:nvPr/>
        </p:nvSpPr>
        <p:spPr>
          <a:xfrm>
            <a:off x="6720840" y="3776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</a:t>
            </a:r>
            <a:endParaRPr lang="en-US" sz="11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3518A70B-832A-8F3C-1BEA-18B092D39A37}"/>
              </a:ext>
            </a:extLst>
          </p:cNvPr>
          <p:cNvSpPr/>
          <p:nvPr/>
        </p:nvSpPr>
        <p:spPr>
          <a:xfrm>
            <a:off x="6720840" y="40416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2,510</a:t>
            </a:r>
            <a:endParaRPr lang="en-US" sz="100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8588E7C2-675B-1C21-8040-54E127964ED7}"/>
              </a:ext>
            </a:extLst>
          </p:cNvPr>
          <p:cNvSpPr/>
          <p:nvPr/>
        </p:nvSpPr>
        <p:spPr>
          <a:xfrm>
            <a:off x="832104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 commuter + recreation</a:t>
            </a:r>
            <a:endParaRPr lang="en-US" sz="1000" dirty="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8E0BE803-5F17-FBCB-0B58-4E2ABA38AF77}"/>
              </a:ext>
            </a:extLst>
          </p:cNvPr>
          <p:cNvSpPr/>
          <p:nvPr/>
        </p:nvSpPr>
        <p:spPr>
          <a:xfrm>
            <a:off x="6446520" y="4462272"/>
            <a:ext cx="51663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3AF6D780-1091-801B-494F-36D127911CF6}"/>
              </a:ext>
            </a:extLst>
          </p:cNvPr>
          <p:cNvSpPr/>
          <p:nvPr/>
        </p:nvSpPr>
        <p:spPr>
          <a:xfrm>
            <a:off x="6537960" y="4462272"/>
            <a:ext cx="4983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 Factors (Cramér's V)</a:t>
            </a:r>
            <a:endParaRPr lang="en-US" sz="1100" dirty="0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F78F9CE5-5EFA-CD73-38A6-EF71F74F134B}"/>
              </a:ext>
            </a:extLst>
          </p:cNvPr>
          <p:cNvSpPr/>
          <p:nvPr/>
        </p:nvSpPr>
        <p:spPr>
          <a:xfrm>
            <a:off x="6492240" y="4873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Lane Type</a:t>
            </a:r>
            <a:endParaRPr lang="en-US" sz="95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25B2C60F-8C38-DB57-75A8-CFE9CB38FE51}"/>
              </a:ext>
            </a:extLst>
          </p:cNvPr>
          <p:cNvSpPr/>
          <p:nvPr/>
        </p:nvSpPr>
        <p:spPr>
          <a:xfrm>
            <a:off x="8595360" y="4937760"/>
            <a:ext cx="228600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BF29915B-4788-ED14-B789-2FF1F03B719D}"/>
              </a:ext>
            </a:extLst>
          </p:cNvPr>
          <p:cNvSpPr/>
          <p:nvPr/>
        </p:nvSpPr>
        <p:spPr>
          <a:xfrm>
            <a:off x="10927080" y="48737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V=0.125</a:t>
            </a:r>
            <a:endParaRPr lang="en-US" sz="9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92BDBE82-0215-3A9A-0957-58D41C719883}"/>
              </a:ext>
            </a:extLst>
          </p:cNvPr>
          <p:cNvSpPr/>
          <p:nvPr/>
        </p:nvSpPr>
        <p:spPr>
          <a:xfrm>
            <a:off x="6492240" y="52943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Conditions</a:t>
            </a:r>
            <a:endParaRPr lang="en-US" sz="95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B4A553D1-92DE-1233-7167-780C6E9E5032}"/>
              </a:ext>
            </a:extLst>
          </p:cNvPr>
          <p:cNvSpPr/>
          <p:nvPr/>
        </p:nvSpPr>
        <p:spPr>
          <a:xfrm>
            <a:off x="8595360" y="5358384"/>
            <a:ext cx="1883664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BBF5FD57-2589-6AF4-5E7B-03CB9FE00C7A}"/>
              </a:ext>
            </a:extLst>
          </p:cNvPr>
          <p:cNvSpPr/>
          <p:nvPr/>
        </p:nvSpPr>
        <p:spPr>
          <a:xfrm>
            <a:off x="10524744" y="52943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V=0.103</a:t>
            </a:r>
            <a:endParaRPr lang="en-US" sz="900" dirty="0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F43329A4-AE9E-9ACF-D08D-51AEE43F0950}"/>
              </a:ext>
            </a:extLst>
          </p:cNvPr>
          <p:cNvSpPr/>
          <p:nvPr/>
        </p:nvSpPr>
        <p:spPr>
          <a:xfrm>
            <a:off x="6492240" y="5715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Classification</a:t>
            </a:r>
            <a:endParaRPr lang="en-US" sz="95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667EFF71-0B0A-3A8C-FC61-6C48DE8A5322}"/>
              </a:ext>
            </a:extLst>
          </p:cNvPr>
          <p:cNvSpPr/>
          <p:nvPr/>
        </p:nvSpPr>
        <p:spPr>
          <a:xfrm>
            <a:off x="8595360" y="5779008"/>
            <a:ext cx="173736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61275E67-A8F4-99BA-3149-F4C63A7F9EA4}"/>
              </a:ext>
            </a:extLst>
          </p:cNvPr>
          <p:cNvSpPr/>
          <p:nvPr/>
        </p:nvSpPr>
        <p:spPr>
          <a:xfrm>
            <a:off x="10378440" y="5715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V=0.095</a:t>
            </a:r>
            <a:endParaRPr lang="en-US" sz="90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2738EAE1-80AD-08A4-CA2D-64D161EB7442}"/>
              </a:ext>
            </a:extLst>
          </p:cNvPr>
          <p:cNvSpPr/>
          <p:nvPr/>
        </p:nvSpPr>
        <p:spPr>
          <a:xfrm>
            <a:off x="6492240" y="61356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Highway</a:t>
            </a:r>
            <a:endParaRPr lang="en-US" sz="95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10EA3751-E143-A159-AF1A-4684AB90EB5B}"/>
              </a:ext>
            </a:extLst>
          </p:cNvPr>
          <p:cNvSpPr/>
          <p:nvPr/>
        </p:nvSpPr>
        <p:spPr>
          <a:xfrm>
            <a:off x="8595360" y="6199632"/>
            <a:ext cx="1591056" cy="2560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F8DB08EE-852D-089E-85D0-75C5E1A9FCD1}"/>
              </a:ext>
            </a:extLst>
          </p:cNvPr>
          <p:cNvSpPr/>
          <p:nvPr/>
        </p:nvSpPr>
        <p:spPr>
          <a:xfrm>
            <a:off x="10232136" y="61356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V=0.087</a:t>
            </a:r>
            <a:endParaRPr lang="en-US" sz="900" dirty="0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86177DD2-DC71-9D88-B329-2A2C6B3D9E2D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800" dirty="0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9CE41811-A18D-3D9E-6618-6E9547A34A43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800" dirty="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C837AE94-363D-E8DB-C2B8-DA736037C5FA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659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4BF972-B1FD-FF4B-E42A-03339BE507C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AF5F91-88C3-0742-C7D6-88B6D884291D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Solution - Integrated Road Safety Intelligence Platform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9A6FDE-0E0C-4035-E916-BA0747E14448}"/>
              </a:ext>
            </a:extLst>
          </p:cNvPr>
          <p:cNvSpPr/>
          <p:nvPr/>
        </p:nvSpPr>
        <p:spPr>
          <a:xfrm>
            <a:off x="365760" y="749808"/>
            <a:ext cx="3749040" cy="2834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38C9DE-C8BB-5DE3-82F4-117AEC6E2DBE}"/>
              </a:ext>
            </a:extLst>
          </p:cNvPr>
          <p:cNvSpPr/>
          <p:nvPr/>
        </p:nvSpPr>
        <p:spPr>
          <a:xfrm>
            <a:off x="365760" y="777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CFBB3E2-3EFC-297A-F193-B9FC311E0F2B}"/>
              </a:ext>
            </a:extLst>
          </p:cNvPr>
          <p:cNvSpPr/>
          <p:nvPr/>
        </p:nvSpPr>
        <p:spPr>
          <a:xfrm>
            <a:off x="45720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Analytics Pipeline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9043800-95A5-A88D-2768-E219BA71F7ED}"/>
              </a:ext>
            </a:extLst>
          </p:cNvPr>
          <p:cNvSpPr/>
          <p:nvPr/>
        </p:nvSpPr>
        <p:spPr>
          <a:xfrm>
            <a:off x="457200" y="2148840"/>
            <a:ext cx="35661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Bronze→Silver→Gold medallion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Gold Delta tables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111,657 records processed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version control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8544506-33C5-40AF-E4BB-3B04A23D2936}"/>
              </a:ext>
            </a:extLst>
          </p:cNvPr>
          <p:cNvSpPr/>
          <p:nvPr/>
        </p:nvSpPr>
        <p:spPr>
          <a:xfrm>
            <a:off x="4343400" y="749808"/>
            <a:ext cx="3749040" cy="2834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75F609F-D9B3-9452-D769-28B7C95010E3}"/>
              </a:ext>
            </a:extLst>
          </p:cNvPr>
          <p:cNvSpPr/>
          <p:nvPr/>
        </p:nvSpPr>
        <p:spPr>
          <a:xfrm>
            <a:off x="4343400" y="777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B006961-61AC-0C3A-296E-3EF67AD9CB02}"/>
              </a:ext>
            </a:extLst>
          </p:cNvPr>
          <p:cNvSpPr/>
          <p:nvPr/>
        </p:nvSpPr>
        <p:spPr>
          <a:xfrm>
            <a:off x="443484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6EC8911-1F35-B576-D9C6-F0B0432F4385}"/>
              </a:ext>
            </a:extLst>
          </p:cNvPr>
          <p:cNvSpPr/>
          <p:nvPr/>
        </p:nvSpPr>
        <p:spPr>
          <a:xfrm>
            <a:off x="4434840" y="2148840"/>
            <a:ext cx="35661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stakeholder dashboard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· ML · Temporal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Users · Executive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&lt;3s load time</a:t>
            </a:r>
            <a:endParaRPr lang="en-US" sz="10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CA156B2-2258-4805-9444-151D4A75786C}"/>
              </a:ext>
            </a:extLst>
          </p:cNvPr>
          <p:cNvSpPr/>
          <p:nvPr/>
        </p:nvSpPr>
        <p:spPr>
          <a:xfrm>
            <a:off x="8321040" y="749808"/>
            <a:ext cx="3749040" cy="2834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1029DAF-1308-2DAF-60E4-B012A6815A12}"/>
              </a:ext>
            </a:extLst>
          </p:cNvPr>
          <p:cNvSpPr/>
          <p:nvPr/>
        </p:nvSpPr>
        <p:spPr>
          <a:xfrm>
            <a:off x="8321040" y="777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6A296B2-F971-64F3-38DB-D8DA91E67960}"/>
              </a:ext>
            </a:extLst>
          </p:cNvPr>
          <p:cNvSpPr/>
          <p:nvPr/>
        </p:nvSpPr>
        <p:spPr>
          <a:xfrm>
            <a:off x="841248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12-Recommendation Plan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9A4481A-EEA4-87EC-3CE1-81C60E5FC152}"/>
              </a:ext>
            </a:extLst>
          </p:cNvPr>
          <p:cNvSpPr/>
          <p:nvPr/>
        </p:nvSpPr>
        <p:spPr>
          <a:xfrm>
            <a:off x="8412480" y="2148840"/>
            <a:ext cx="35661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actions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linked to findings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NZD ROI estimates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matrix</a:t>
            </a:r>
            <a:endParaRPr lang="en-US" sz="10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EF099C2-DACA-D188-5A5D-594F24E69586}"/>
              </a:ext>
            </a:extLst>
          </p:cNvPr>
          <p:cNvSpPr/>
          <p:nvPr/>
        </p:nvSpPr>
        <p:spPr>
          <a:xfrm>
            <a:off x="365760" y="3749040"/>
            <a:ext cx="1143000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5D22A48-7503-DBE1-38E8-A42EC23BE3F7}"/>
              </a:ext>
            </a:extLst>
          </p:cNvPr>
          <p:cNvSpPr/>
          <p:nvPr/>
        </p:nvSpPr>
        <p:spPr>
          <a:xfrm>
            <a:off x="502920" y="3749040"/>
            <a:ext cx="11064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Annual ROI Estimate  ·  3 Independent Intervention Streams</a:t>
            </a:r>
            <a:endParaRPr lang="en-US" sz="13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C3A75C0-0638-D32B-CD3B-B8907DA4ABCE}"/>
              </a:ext>
            </a:extLst>
          </p:cNvPr>
          <p:cNvSpPr/>
          <p:nvPr/>
        </p:nvSpPr>
        <p:spPr>
          <a:xfrm>
            <a:off x="365760" y="427939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06BDAA3-C010-8BE9-890F-C19B43CA634D}"/>
              </a:ext>
            </a:extLst>
          </p:cNvPr>
          <p:cNvSpPr/>
          <p:nvPr/>
        </p:nvSpPr>
        <p:spPr>
          <a:xfrm>
            <a:off x="365760" y="4279392"/>
            <a:ext cx="365760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C616A22-BA9B-793D-C986-850CEEBA8BDA}"/>
              </a:ext>
            </a:extLst>
          </p:cNvPr>
          <p:cNvSpPr/>
          <p:nvPr/>
        </p:nvSpPr>
        <p:spPr>
          <a:xfrm>
            <a:off x="365760" y="4297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~NZD 8M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59C7A30-20B2-BC13-4F40-05578F2ACD0E}"/>
              </a:ext>
            </a:extLst>
          </p:cNvPr>
          <p:cNvSpPr/>
          <p:nvPr/>
        </p:nvSpPr>
        <p:spPr>
          <a:xfrm>
            <a:off x="457200" y="4645152"/>
            <a:ext cx="34747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1: Hotspot Infrastructure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(5% crash reduction at Gi* hot spot sites)</a:t>
            </a: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AFD7E65-CF18-726F-FC8E-BBAB99E0F569}"/>
              </a:ext>
            </a:extLst>
          </p:cNvPr>
          <p:cNvSpPr/>
          <p:nvPr/>
        </p:nvSpPr>
        <p:spPr>
          <a:xfrm>
            <a:off x="4160520" y="427939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F38033B-7876-5A21-E29D-A492E0EF736C}"/>
              </a:ext>
            </a:extLst>
          </p:cNvPr>
          <p:cNvSpPr/>
          <p:nvPr/>
        </p:nvSpPr>
        <p:spPr>
          <a:xfrm>
            <a:off x="4160520" y="4279392"/>
            <a:ext cx="3657600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949C0E6-9292-4BD9-991C-FAAC94C71E30}"/>
              </a:ext>
            </a:extLst>
          </p:cNvPr>
          <p:cNvSpPr/>
          <p:nvPr/>
        </p:nvSpPr>
        <p:spPr>
          <a:xfrm>
            <a:off x="4160520" y="4297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~NZD 7M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4070028-1153-1737-B2E6-BD9FFB24D644}"/>
              </a:ext>
            </a:extLst>
          </p:cNvPr>
          <p:cNvSpPr/>
          <p:nvPr/>
        </p:nvSpPr>
        <p:spPr>
          <a:xfrm>
            <a:off x="4251960" y="4645152"/>
            <a:ext cx="34747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2: Vulnerable User Safety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(10% reduction - based on 8.95× finding)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9590A0D-51B3-AA87-4003-7219A7D6DE4F}"/>
              </a:ext>
            </a:extLst>
          </p:cNvPr>
          <p:cNvSpPr/>
          <p:nvPr/>
        </p:nvSpPr>
        <p:spPr>
          <a:xfrm>
            <a:off x="7955280" y="427939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B7770EA-9B1B-43C4-8C33-F85BA5ED7062}"/>
              </a:ext>
            </a:extLst>
          </p:cNvPr>
          <p:cNvSpPr/>
          <p:nvPr/>
        </p:nvSpPr>
        <p:spPr>
          <a:xfrm>
            <a:off x="7955280" y="4279392"/>
            <a:ext cx="3657600" cy="320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603A1EC-2634-F5E2-59DF-0D6466E54186}"/>
              </a:ext>
            </a:extLst>
          </p:cNvPr>
          <p:cNvSpPr/>
          <p:nvPr/>
        </p:nvSpPr>
        <p:spPr>
          <a:xfrm>
            <a:off x="7955280" y="4297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~NZD 800K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5AEABCC-BCEF-F3DC-125B-2F5DE00CEDBB}"/>
              </a:ext>
            </a:extLst>
          </p:cNvPr>
          <p:cNvSpPr/>
          <p:nvPr/>
        </p:nvSpPr>
        <p:spPr>
          <a:xfrm>
            <a:off x="8046720" y="4645152"/>
            <a:ext cx="34747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3: Labour Weekend Enforcement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(15% reduction - </a:t>
            </a:r>
            <a:r>
              <a:rPr lang="en-US" sz="10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Weekend +1.47pp)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B2D5227-60A9-49E9-6B64-FC226DBDAAF9}"/>
              </a:ext>
            </a:extLst>
          </p:cNvPr>
          <p:cNvSpPr/>
          <p:nvPr/>
        </p:nvSpPr>
        <p:spPr>
          <a:xfrm>
            <a:off x="11384280" y="4279392"/>
            <a:ext cx="411480" cy="1417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E0862FA-6D1F-587C-9D4B-4FCB6A9E10B2}"/>
              </a:ext>
            </a:extLst>
          </p:cNvPr>
          <p:cNvSpPr/>
          <p:nvPr/>
        </p:nvSpPr>
        <p:spPr>
          <a:xfrm>
            <a:off x="0" y="4279392"/>
            <a:ext cx="11384280" cy="141732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NZD 15–20M</a:t>
            </a:r>
            <a:endParaRPr lang="en-US" sz="18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2925053-22AC-A05D-64ED-FEE109191206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8745845-727B-118D-7B70-596B0424B599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8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B5AF689-5860-CAB1-DC6A-D795F5EF70E7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2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988D62-A65D-DFA7-2025-F4CB0079E3DE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9836D8-F227-5DD5-A139-525F9FFCE769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Top 6 Priority Recommendations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BF1992-F1DB-4B9B-8F91-64C6C86F482F}"/>
              </a:ext>
            </a:extLst>
          </p:cNvPr>
          <p:cNvSpPr/>
          <p:nvPr/>
        </p:nvSpPr>
        <p:spPr>
          <a:xfrm>
            <a:off x="457200" y="59436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Gi* hotspot analysis · 8.95× VU relative risk · Labour Weekend finding · SHAP feature importance</a:t>
            </a:r>
            <a:endParaRPr lang="en-US" sz="10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20AE90F-C446-D2F4-80E9-FFA2365B4EB7}"/>
              </a:ext>
            </a:extLst>
          </p:cNvPr>
          <p:cNvSpPr/>
          <p:nvPr/>
        </p:nvSpPr>
        <p:spPr>
          <a:xfrm>
            <a:off x="365760" y="960120"/>
            <a:ext cx="5760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A0036A3-2718-C6C5-B41D-50D172C50A8C}"/>
              </a:ext>
            </a:extLst>
          </p:cNvPr>
          <p:cNvSpPr/>
          <p:nvPr/>
        </p:nvSpPr>
        <p:spPr>
          <a:xfrm>
            <a:off x="365760" y="960120"/>
            <a:ext cx="502920" cy="16916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3D4A48A-8432-BBB7-DDE8-48DB290B4357}"/>
              </a:ext>
            </a:extLst>
          </p:cNvPr>
          <p:cNvSpPr/>
          <p:nvPr/>
        </p:nvSpPr>
        <p:spPr>
          <a:xfrm>
            <a:off x="365760" y="9601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E9B14C7-6604-2A55-4261-C9001A7155B0}"/>
              </a:ext>
            </a:extLst>
          </p:cNvPr>
          <p:cNvSpPr/>
          <p:nvPr/>
        </p:nvSpPr>
        <p:spPr>
          <a:xfrm>
            <a:off x="868680" y="960120"/>
            <a:ext cx="914400" cy="4114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DE737A4-2A1E-177B-8995-31691654FD82}"/>
              </a:ext>
            </a:extLst>
          </p:cNvPr>
          <p:cNvSpPr/>
          <p:nvPr/>
        </p:nvSpPr>
        <p:spPr>
          <a:xfrm>
            <a:off x="868680" y="960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64E85E1-72F6-28DD-C6EE-F6923EEA1E99}"/>
              </a:ext>
            </a:extLst>
          </p:cNvPr>
          <p:cNvSpPr/>
          <p:nvPr/>
        </p:nvSpPr>
        <p:spPr>
          <a:xfrm>
            <a:off x="1783080" y="960120"/>
            <a:ext cx="6400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9AA23E2-B26E-BE07-FC00-A83BE60452AA}"/>
              </a:ext>
            </a:extLst>
          </p:cNvPr>
          <p:cNvSpPr/>
          <p:nvPr/>
        </p:nvSpPr>
        <p:spPr>
          <a:xfrm>
            <a:off x="1783080" y="960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08092A5-441A-EADC-754B-64D0A8ACCCB6}"/>
              </a:ext>
            </a:extLst>
          </p:cNvPr>
          <p:cNvSpPr/>
          <p:nvPr/>
        </p:nvSpPr>
        <p:spPr>
          <a:xfrm>
            <a:off x="960120" y="1417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Lighting at Hot Spot 99.9% Cells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616AB73-3879-DB0E-309F-56F614067FB1}"/>
              </a:ext>
            </a:extLst>
          </p:cNvPr>
          <p:cNvSpPr/>
          <p:nvPr/>
        </p:nvSpPr>
        <p:spPr>
          <a:xfrm>
            <a:off x="960120" y="1856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Basis: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= #1 SHAP predictor (V=0.103)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692CCF0-2EFA-C48B-DCF5-CBB0815AC2A4}"/>
              </a:ext>
            </a:extLst>
          </p:cNvPr>
          <p:cNvSpPr/>
          <p:nvPr/>
        </p:nvSpPr>
        <p:spPr>
          <a:xfrm>
            <a:off x="960120" y="2221992"/>
            <a:ext cx="137160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BCAC7DD-A01D-C4AD-94B2-5117229285E7}"/>
              </a:ext>
            </a:extLst>
          </p:cNvPr>
          <p:cNvSpPr/>
          <p:nvPr/>
        </p:nvSpPr>
        <p:spPr>
          <a:xfrm>
            <a:off x="960120" y="22219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NZD 2.4M+</a:t>
            </a:r>
            <a:endParaRPr lang="en-US" sz="9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5D1FFA1-2278-2587-23AA-969D8EE7D201}"/>
              </a:ext>
            </a:extLst>
          </p:cNvPr>
          <p:cNvSpPr/>
          <p:nvPr/>
        </p:nvSpPr>
        <p:spPr>
          <a:xfrm>
            <a:off x="6400800" y="960120"/>
            <a:ext cx="5760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453A177-4D7B-5DE7-06F6-42C786EF06BA}"/>
              </a:ext>
            </a:extLst>
          </p:cNvPr>
          <p:cNvSpPr/>
          <p:nvPr/>
        </p:nvSpPr>
        <p:spPr>
          <a:xfrm>
            <a:off x="6400800" y="960120"/>
            <a:ext cx="502920" cy="16916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B6BD43D-BF80-DAF4-A0F6-96B6D9C25C7D}"/>
              </a:ext>
            </a:extLst>
          </p:cNvPr>
          <p:cNvSpPr/>
          <p:nvPr/>
        </p:nvSpPr>
        <p:spPr>
          <a:xfrm>
            <a:off x="6400800" y="9601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🚶</a:t>
            </a:r>
            <a:endParaRPr lang="en-US" sz="2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BD30F12-8656-1153-35A5-C00D68742B46}"/>
              </a:ext>
            </a:extLst>
          </p:cNvPr>
          <p:cNvSpPr/>
          <p:nvPr/>
        </p:nvSpPr>
        <p:spPr>
          <a:xfrm>
            <a:off x="6903720" y="960120"/>
            <a:ext cx="914400" cy="4114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0F403CF-F306-E488-8FB1-26B983F5D22B}"/>
              </a:ext>
            </a:extLst>
          </p:cNvPr>
          <p:cNvSpPr/>
          <p:nvPr/>
        </p:nvSpPr>
        <p:spPr>
          <a:xfrm>
            <a:off x="6903720" y="960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9F235CE-8884-944B-0A1F-7C7385EE524B}"/>
              </a:ext>
            </a:extLst>
          </p:cNvPr>
          <p:cNvSpPr/>
          <p:nvPr/>
        </p:nvSpPr>
        <p:spPr>
          <a:xfrm>
            <a:off x="7818120" y="960120"/>
            <a:ext cx="6400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4B1F9A4-EB6C-5C15-82E6-E49FF8DE7CA9}"/>
              </a:ext>
            </a:extLst>
          </p:cNvPr>
          <p:cNvSpPr/>
          <p:nvPr/>
        </p:nvSpPr>
        <p:spPr>
          <a:xfrm>
            <a:off x="7818120" y="960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52BF17C-82A8-9DEE-B4FC-3B048CB79F93}"/>
              </a:ext>
            </a:extLst>
          </p:cNvPr>
          <p:cNvSpPr/>
          <p:nvPr/>
        </p:nvSpPr>
        <p:spPr>
          <a:xfrm>
            <a:off x="6995160" y="1417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Cycling/Pedestrian Infrastructure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89E5F5E-4AE2-A8C9-C399-277413EF936C}"/>
              </a:ext>
            </a:extLst>
          </p:cNvPr>
          <p:cNvSpPr/>
          <p:nvPr/>
        </p:nvSpPr>
        <p:spPr>
          <a:xfrm>
            <a:off x="6995160" y="1856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Basis: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Lane Type V=0.125 — strongest modifiable factor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6BCCEF7-A1DE-9610-1640-406F8F7762D7}"/>
              </a:ext>
            </a:extLst>
          </p:cNvPr>
          <p:cNvSpPr/>
          <p:nvPr/>
        </p:nvSpPr>
        <p:spPr>
          <a:xfrm>
            <a:off x="6995160" y="2221992"/>
            <a:ext cx="137160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BC0E7ED-6659-2674-C0A4-5507B9C8AC17}"/>
              </a:ext>
            </a:extLst>
          </p:cNvPr>
          <p:cNvSpPr/>
          <p:nvPr/>
        </p:nvSpPr>
        <p:spPr>
          <a:xfrm>
            <a:off x="6995160" y="22219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NZD 3.2M+</a:t>
            </a:r>
            <a:endParaRPr lang="en-US" sz="9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71A36F0-97B1-5EE3-2564-09BCB85C848A}"/>
              </a:ext>
            </a:extLst>
          </p:cNvPr>
          <p:cNvSpPr/>
          <p:nvPr/>
        </p:nvSpPr>
        <p:spPr>
          <a:xfrm>
            <a:off x="365760" y="2788920"/>
            <a:ext cx="5760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1F09D82-363D-F5B1-AE33-B6C23949DC43}"/>
              </a:ext>
            </a:extLst>
          </p:cNvPr>
          <p:cNvSpPr/>
          <p:nvPr/>
        </p:nvSpPr>
        <p:spPr>
          <a:xfrm>
            <a:off x="365760" y="2788920"/>
            <a:ext cx="502920" cy="1691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D874917-6EAA-20E5-8CFA-C9B93DA3FA5F}"/>
              </a:ext>
            </a:extLst>
          </p:cNvPr>
          <p:cNvSpPr/>
          <p:nvPr/>
        </p:nvSpPr>
        <p:spPr>
          <a:xfrm>
            <a:off x="365760" y="27889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🚦</a:t>
            </a:r>
            <a:endParaRPr lang="en-US" sz="2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CBA1EF2-AB83-0169-B19F-4A812E881BDD}"/>
              </a:ext>
            </a:extLst>
          </p:cNvPr>
          <p:cNvSpPr/>
          <p:nvPr/>
        </p:nvSpPr>
        <p:spPr>
          <a:xfrm>
            <a:off x="868680" y="2788920"/>
            <a:ext cx="91440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7CE84D8-BCC7-B836-B61F-55EA52E94AF6}"/>
              </a:ext>
            </a:extLst>
          </p:cNvPr>
          <p:cNvSpPr/>
          <p:nvPr/>
        </p:nvSpPr>
        <p:spPr>
          <a:xfrm>
            <a:off x="868680" y="2788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BD1BFDE6-EE76-64C5-FC95-364E2F85A06E}"/>
              </a:ext>
            </a:extLst>
          </p:cNvPr>
          <p:cNvSpPr/>
          <p:nvPr/>
        </p:nvSpPr>
        <p:spPr>
          <a:xfrm>
            <a:off x="1783080" y="2788920"/>
            <a:ext cx="6400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CC42E97E-9FE8-2606-F3E1-DC92F118A649}"/>
              </a:ext>
            </a:extLst>
          </p:cNvPr>
          <p:cNvSpPr/>
          <p:nvPr/>
        </p:nvSpPr>
        <p:spPr>
          <a:xfrm>
            <a:off x="1783080" y="2788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BA602D2-BCB2-7DDB-7330-A8B0C3B9775C}"/>
              </a:ext>
            </a:extLst>
          </p:cNvPr>
          <p:cNvSpPr/>
          <p:nvPr/>
        </p:nvSpPr>
        <p:spPr>
          <a:xfrm>
            <a:off x="96012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Upgrades at Top 20 Intersections</a:t>
            </a: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64E0937-7E9D-B487-BAF9-173E244A3D1F}"/>
              </a:ext>
            </a:extLst>
          </p:cNvPr>
          <p:cNvSpPr/>
          <p:nvPr/>
        </p:nvSpPr>
        <p:spPr>
          <a:xfrm>
            <a:off x="960120" y="3685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Basis: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significant (p&lt;0.001); nil control = highest risk</a:t>
            </a:r>
            <a:endParaRPr lang="en-US" sz="10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04F6FEE3-7342-1E9B-52D5-6D228F9A9CD8}"/>
              </a:ext>
            </a:extLst>
          </p:cNvPr>
          <p:cNvSpPr/>
          <p:nvPr/>
        </p:nvSpPr>
        <p:spPr>
          <a:xfrm>
            <a:off x="960120" y="4050792"/>
            <a:ext cx="137160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573AAA8-1C5D-84D7-1218-CDDAE6089DB5}"/>
              </a:ext>
            </a:extLst>
          </p:cNvPr>
          <p:cNvSpPr/>
          <p:nvPr/>
        </p:nvSpPr>
        <p:spPr>
          <a:xfrm>
            <a:off x="960120" y="40507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NZD 1.8M+</a:t>
            </a:r>
            <a:endParaRPr lang="en-US" sz="9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536B9134-8164-E93A-0009-18881717A124}"/>
              </a:ext>
            </a:extLst>
          </p:cNvPr>
          <p:cNvSpPr/>
          <p:nvPr/>
        </p:nvSpPr>
        <p:spPr>
          <a:xfrm>
            <a:off x="6400800" y="2788920"/>
            <a:ext cx="5760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4969D676-CDC8-9EB8-F002-ECBEEE92CE7E}"/>
              </a:ext>
            </a:extLst>
          </p:cNvPr>
          <p:cNvSpPr/>
          <p:nvPr/>
        </p:nvSpPr>
        <p:spPr>
          <a:xfrm>
            <a:off x="6400800" y="2788920"/>
            <a:ext cx="502920" cy="1691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C8B2421-EAEB-6CAA-E5F3-1306A021D4FF}"/>
              </a:ext>
            </a:extLst>
          </p:cNvPr>
          <p:cNvSpPr/>
          <p:nvPr/>
        </p:nvSpPr>
        <p:spPr>
          <a:xfrm>
            <a:off x="6400800" y="27889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A3336BE-F95E-9A81-C3F1-95A956DBE0D0}"/>
              </a:ext>
            </a:extLst>
          </p:cNvPr>
          <p:cNvSpPr/>
          <p:nvPr/>
        </p:nvSpPr>
        <p:spPr>
          <a:xfrm>
            <a:off x="6903720" y="2788920"/>
            <a:ext cx="91440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0254F41-405F-2179-EE4D-01E8C5495B2C}"/>
              </a:ext>
            </a:extLst>
          </p:cNvPr>
          <p:cNvSpPr/>
          <p:nvPr/>
        </p:nvSpPr>
        <p:spPr>
          <a:xfrm>
            <a:off x="6903720" y="2788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4A570F33-C395-85E9-67B8-83537E552AC2}"/>
              </a:ext>
            </a:extLst>
          </p:cNvPr>
          <p:cNvSpPr/>
          <p:nvPr/>
        </p:nvSpPr>
        <p:spPr>
          <a:xfrm>
            <a:off x="7818120" y="2788920"/>
            <a:ext cx="6400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35390BF-369D-1C96-94BE-D0A4B921217E}"/>
              </a:ext>
            </a:extLst>
          </p:cNvPr>
          <p:cNvSpPr/>
          <p:nvPr/>
        </p:nvSpPr>
        <p:spPr>
          <a:xfrm>
            <a:off x="7818120" y="2788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1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877F738-7873-61E3-2DA0-70C23CF327DE}"/>
              </a:ext>
            </a:extLst>
          </p:cNvPr>
          <p:cNvSpPr/>
          <p:nvPr/>
        </p:nvSpPr>
        <p:spPr>
          <a:xfrm>
            <a:off x="699516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Weekend Enforcement on State Highways</a:t>
            </a:r>
            <a:endParaRPr lang="en-US" sz="12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E1C1F72-B9A7-07E8-8243-80D8521FA799}"/>
              </a:ext>
            </a:extLst>
          </p:cNvPr>
          <p:cNvSpPr/>
          <p:nvPr/>
        </p:nvSpPr>
        <p:spPr>
          <a:xfrm>
            <a:off x="6995160" y="3685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Basis: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 severe rate (+1.47pp above baseline of 4.8%)</a:t>
            </a:r>
            <a:endParaRPr lang="en-US" sz="10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36FE2043-DC7F-12BA-697A-EB2FBDFF2734}"/>
              </a:ext>
            </a:extLst>
          </p:cNvPr>
          <p:cNvSpPr/>
          <p:nvPr/>
        </p:nvSpPr>
        <p:spPr>
          <a:xfrm>
            <a:off x="6995160" y="4050792"/>
            <a:ext cx="137160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4A318064-6C7D-EFBE-CA5F-DF6CFC4DCAD6}"/>
              </a:ext>
            </a:extLst>
          </p:cNvPr>
          <p:cNvSpPr/>
          <p:nvPr/>
        </p:nvSpPr>
        <p:spPr>
          <a:xfrm>
            <a:off x="6995160" y="40507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NZD 800K+</a:t>
            </a:r>
            <a:endParaRPr lang="en-US" sz="95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FE1D4EA-5EF9-2E11-6DCA-116FA949A791}"/>
              </a:ext>
            </a:extLst>
          </p:cNvPr>
          <p:cNvSpPr/>
          <p:nvPr/>
        </p:nvSpPr>
        <p:spPr>
          <a:xfrm>
            <a:off x="365760" y="4617720"/>
            <a:ext cx="5760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5A7992AD-E9C2-04BF-ECBA-5443C49839C6}"/>
              </a:ext>
            </a:extLst>
          </p:cNvPr>
          <p:cNvSpPr/>
          <p:nvPr/>
        </p:nvSpPr>
        <p:spPr>
          <a:xfrm>
            <a:off x="365760" y="4617720"/>
            <a:ext cx="502920" cy="1691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A63D8B7C-82E4-6D76-D3F8-6530A4401976}"/>
              </a:ext>
            </a:extLst>
          </p:cNvPr>
          <p:cNvSpPr/>
          <p:nvPr/>
        </p:nvSpPr>
        <p:spPr>
          <a:xfrm>
            <a:off x="365760" y="46177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40D1EF8-7664-365A-4F75-ABD6E3DC41B8}"/>
              </a:ext>
            </a:extLst>
          </p:cNvPr>
          <p:cNvSpPr/>
          <p:nvPr/>
        </p:nvSpPr>
        <p:spPr>
          <a:xfrm>
            <a:off x="868680" y="4617720"/>
            <a:ext cx="9144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474EF7F-A1FB-D716-85E5-490708CAB793}"/>
              </a:ext>
            </a:extLst>
          </p:cNvPr>
          <p:cNvSpPr/>
          <p:nvPr/>
        </p:nvSpPr>
        <p:spPr>
          <a:xfrm>
            <a:off x="868680" y="4617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8683E580-B6BD-E12E-B0EC-00E4E0CC7982}"/>
              </a:ext>
            </a:extLst>
          </p:cNvPr>
          <p:cNvSpPr/>
          <p:nvPr/>
        </p:nvSpPr>
        <p:spPr>
          <a:xfrm>
            <a:off x="1783080" y="4617720"/>
            <a:ext cx="6400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AAFE44E6-AB6A-1CEF-BCF5-66A65A88A2F2}"/>
              </a:ext>
            </a:extLst>
          </p:cNvPr>
          <p:cNvSpPr/>
          <p:nvPr/>
        </p:nvSpPr>
        <p:spPr>
          <a:xfrm>
            <a:off x="1783080" y="4617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1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7246E04-4E20-C9DC-93B1-A0CE4FE6D38E}"/>
              </a:ext>
            </a:extLst>
          </p:cNvPr>
          <p:cNvSpPr/>
          <p:nvPr/>
        </p:nvSpPr>
        <p:spPr>
          <a:xfrm>
            <a:off x="960120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Patrol Routing (high_risk_flag cells)</a:t>
            </a:r>
            <a:endParaRPr lang="en-US" sz="12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125EBCB5-520B-F98B-F7E5-A6EE0FE3FACA}"/>
              </a:ext>
            </a:extLst>
          </p:cNvPr>
          <p:cNvSpPr/>
          <p:nvPr/>
        </p:nvSpPr>
        <p:spPr>
          <a:xfrm>
            <a:off x="960120" y="5513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Basis: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recall=63.8%; identifies 6/10 severe crashes</a:t>
            </a:r>
            <a:endParaRPr lang="en-US" sz="10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22DA3B06-7DDA-D66C-1016-6B62AA6869D9}"/>
              </a:ext>
            </a:extLst>
          </p:cNvPr>
          <p:cNvSpPr/>
          <p:nvPr/>
        </p:nvSpPr>
        <p:spPr>
          <a:xfrm>
            <a:off x="960120" y="5879592"/>
            <a:ext cx="137160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D3EC0A24-3A10-78E5-A91F-C0305FA8BE5D}"/>
              </a:ext>
            </a:extLst>
          </p:cNvPr>
          <p:cNvSpPr/>
          <p:nvPr/>
        </p:nvSpPr>
        <p:spPr>
          <a:xfrm>
            <a:off x="960120" y="5879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NZD 1.2M+</a:t>
            </a:r>
            <a:endParaRPr lang="en-US" sz="9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F7A94D53-A3FF-F36F-DAD3-A50C740CEB74}"/>
              </a:ext>
            </a:extLst>
          </p:cNvPr>
          <p:cNvSpPr/>
          <p:nvPr/>
        </p:nvSpPr>
        <p:spPr>
          <a:xfrm>
            <a:off x="6400800" y="4617720"/>
            <a:ext cx="5760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200F6132-FE9A-1858-F3F4-16AD7F91E0E7}"/>
              </a:ext>
            </a:extLst>
          </p:cNvPr>
          <p:cNvSpPr/>
          <p:nvPr/>
        </p:nvSpPr>
        <p:spPr>
          <a:xfrm>
            <a:off x="6400800" y="4617720"/>
            <a:ext cx="502920" cy="1691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2DB4BA58-7445-BEAE-3734-2F39AB2C1648}"/>
              </a:ext>
            </a:extLst>
          </p:cNvPr>
          <p:cNvSpPr/>
          <p:nvPr/>
        </p:nvSpPr>
        <p:spPr>
          <a:xfrm>
            <a:off x="6400800" y="46177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🏍️</a:t>
            </a:r>
            <a:endParaRPr lang="en-US" sz="2000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E64DBFA6-AD39-1B7F-8FE4-A39F3DBEF9BB}"/>
              </a:ext>
            </a:extLst>
          </p:cNvPr>
          <p:cNvSpPr/>
          <p:nvPr/>
        </p:nvSpPr>
        <p:spPr>
          <a:xfrm>
            <a:off x="6903720" y="4617720"/>
            <a:ext cx="9144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FCFA5C8C-B929-7E68-AAAF-024287693ADA}"/>
              </a:ext>
            </a:extLst>
          </p:cNvPr>
          <p:cNvSpPr/>
          <p:nvPr/>
        </p:nvSpPr>
        <p:spPr>
          <a:xfrm>
            <a:off x="6903720" y="4617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399EA0F9-094C-9CAB-A2E6-FC5FA1D9EE0B}"/>
              </a:ext>
            </a:extLst>
          </p:cNvPr>
          <p:cNvSpPr/>
          <p:nvPr/>
        </p:nvSpPr>
        <p:spPr>
          <a:xfrm>
            <a:off x="7818120" y="4617720"/>
            <a:ext cx="6400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5107FF7B-241C-18F1-71D2-412CE10386FD}"/>
              </a:ext>
            </a:extLst>
          </p:cNvPr>
          <p:cNvSpPr/>
          <p:nvPr/>
        </p:nvSpPr>
        <p:spPr>
          <a:xfrm>
            <a:off x="7818120" y="4617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10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C234C923-1C25-A70B-0321-18ECED5204DF}"/>
              </a:ext>
            </a:extLst>
          </p:cNvPr>
          <p:cNvSpPr/>
          <p:nvPr/>
        </p:nvSpPr>
        <p:spPr>
          <a:xfrm>
            <a:off x="6995160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 Safety Programme on State Highways</a:t>
            </a:r>
            <a:endParaRPr lang="en-US" sz="120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F16DA2DF-AD80-9B76-5B56-2840DB90530F}"/>
              </a:ext>
            </a:extLst>
          </p:cNvPr>
          <p:cNvSpPr/>
          <p:nvPr/>
        </p:nvSpPr>
        <p:spPr>
          <a:xfrm>
            <a:off x="6995160" y="5513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Basis: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Motorcyclists over-represented on SH; V=0.087</a:t>
            </a:r>
            <a:endParaRPr lang="en-US" sz="100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5DBE0221-803F-6BF5-1F9C-2D05CF790761}"/>
              </a:ext>
            </a:extLst>
          </p:cNvPr>
          <p:cNvSpPr/>
          <p:nvPr/>
        </p:nvSpPr>
        <p:spPr>
          <a:xfrm>
            <a:off x="6995160" y="5879592"/>
            <a:ext cx="137160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BF68BBF6-519F-5DD8-6419-658FDA4CBC4A}"/>
              </a:ext>
            </a:extLst>
          </p:cNvPr>
          <p:cNvSpPr/>
          <p:nvPr/>
        </p:nvSpPr>
        <p:spPr>
          <a:xfrm>
            <a:off x="6995160" y="5879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NZD 1.2M+</a:t>
            </a:r>
            <a:endParaRPr lang="en-US" sz="95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B5BD8430-6716-9EA6-CF14-0B863A71157A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80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2218FDF7-AFD0-E9F4-3B3B-F6FF597DAB7E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80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E0FB7597-73AF-9481-6AE3-A4C192563C2E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827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AD12DB-2F51-5982-8C4E-0DD9E48CBE29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694F73-2333-D6C5-5976-67318FAD42C4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Ethical &amp; Cultural Safeguards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FD5C80-213A-5208-09C8-6485683BFB37}"/>
              </a:ext>
            </a:extLst>
          </p:cNvPr>
          <p:cNvSpPr/>
          <p:nvPr/>
        </p:nvSpPr>
        <p:spPr>
          <a:xfrm>
            <a:off x="457200" y="603504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LO3 - How ethical and cultural considerations were embedded throughout the project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66DA880-187D-37FC-3300-4D1D123713FC}"/>
              </a:ext>
            </a:extLst>
          </p:cNvPr>
          <p:cNvSpPr/>
          <p:nvPr/>
        </p:nvSpPr>
        <p:spPr>
          <a:xfrm>
            <a:off x="365760" y="960120"/>
            <a:ext cx="5760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49EEDAD-13B0-1FA7-D92D-BA9A4508914B}"/>
              </a:ext>
            </a:extLst>
          </p:cNvPr>
          <p:cNvSpPr/>
          <p:nvPr/>
        </p:nvSpPr>
        <p:spPr>
          <a:xfrm>
            <a:off x="365760" y="960120"/>
            <a:ext cx="576072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1920BC0-8F99-8FAC-FC9F-9D2016958BE1}"/>
              </a:ext>
            </a:extLst>
          </p:cNvPr>
          <p:cNvSpPr/>
          <p:nvPr/>
        </p:nvSpPr>
        <p:spPr>
          <a:xfrm>
            <a:off x="457200" y="960120"/>
            <a:ext cx="55778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Data Privacy &amp; Security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7B1385B-05A5-5E8D-9F63-584DCE1E0AE5}"/>
              </a:ext>
            </a:extLst>
          </p:cNvPr>
          <p:cNvSpPr/>
          <p:nvPr/>
        </p:nvSpPr>
        <p:spPr>
          <a:xfrm>
            <a:off x="502920" y="149047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NZTA CAS = no personal identifiers — low base risk</a:t>
            </a:r>
            <a:endParaRPr lang="en-US" sz="10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10BF74A-99CE-E9EC-B71F-229E9A4F6339}"/>
              </a:ext>
            </a:extLst>
          </p:cNvPr>
          <p:cNvSpPr/>
          <p:nvPr/>
        </p:nvSpPr>
        <p:spPr>
          <a:xfrm>
            <a:off x="502920" y="19659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Grid-level (1km) aggregation prevents re-identification</a:t>
            </a:r>
            <a:endParaRPr lang="en-US" sz="1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80CAF25-1991-3777-4021-CCCA67D2D04A}"/>
              </a:ext>
            </a:extLst>
          </p:cNvPr>
          <p:cNvSpPr/>
          <p:nvPr/>
        </p:nvSpPr>
        <p:spPr>
          <a:xfrm>
            <a:off x="502920" y="244144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Cell suppression: n &lt; 5 crashes not shown on dashboard</a:t>
            </a:r>
            <a:endParaRPr lang="en-US" sz="10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0403D49-48BF-A834-8C3E-274E32946945}"/>
              </a:ext>
            </a:extLst>
          </p:cNvPr>
          <p:cNvSpPr/>
          <p:nvPr/>
        </p:nvSpPr>
        <p:spPr>
          <a:xfrm>
            <a:off x="502920" y="291693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Microsoft Fabric encryption at rest + Azure NZ/AU residency</a:t>
            </a:r>
            <a:endParaRPr lang="en-US" sz="10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C68FA64-6080-A542-1382-B4F5389561EA}"/>
              </a:ext>
            </a:extLst>
          </p:cNvPr>
          <p:cNvSpPr/>
          <p:nvPr/>
        </p:nvSpPr>
        <p:spPr>
          <a:xfrm>
            <a:off x="6400800" y="960120"/>
            <a:ext cx="5760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47E7A28-FBF6-3D5E-51C7-8696137F6F30}"/>
              </a:ext>
            </a:extLst>
          </p:cNvPr>
          <p:cNvSpPr/>
          <p:nvPr/>
        </p:nvSpPr>
        <p:spPr>
          <a:xfrm>
            <a:off x="6400800" y="960120"/>
            <a:ext cx="57607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3DFA1A9-E788-AA41-7A5A-5DDB1F82FBD6}"/>
              </a:ext>
            </a:extLst>
          </p:cNvPr>
          <p:cNvSpPr/>
          <p:nvPr/>
        </p:nvSpPr>
        <p:spPr>
          <a:xfrm>
            <a:off x="6492240" y="960120"/>
            <a:ext cx="55778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Algorithmic Ethics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3ADC81D-DFB4-D20E-C606-43BBB7A5D2C3}"/>
              </a:ext>
            </a:extLst>
          </p:cNvPr>
          <p:cNvSpPr/>
          <p:nvPr/>
        </p:nvSpPr>
        <p:spPr>
          <a:xfrm>
            <a:off x="6537960" y="149047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ML predictions = patrol location support only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FDC29F5-AC65-C188-1FBF-F75EBFB7FA27}"/>
              </a:ext>
            </a:extLst>
          </p:cNvPr>
          <p:cNvSpPr/>
          <p:nvPr/>
        </p:nvSpPr>
        <p:spPr>
          <a:xfrm>
            <a:off x="6537960" y="19659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Human officer final decision - not automated enforcement</a:t>
            </a:r>
            <a:endParaRPr lang="en-US" sz="10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9AC11D5-BF5D-B924-FB48-CFC1DAD628E3}"/>
              </a:ext>
            </a:extLst>
          </p:cNvPr>
          <p:cNvSpPr/>
          <p:nvPr/>
        </p:nvSpPr>
        <p:spPr>
          <a:xfrm>
            <a:off x="6537960" y="244144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NZ Police Algorithmic Impact Assessment required pre-deploy</a:t>
            </a:r>
            <a:endParaRPr lang="en-US" sz="10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44DF9D8-0C2F-C5F3-E831-A5B782C33EA8}"/>
              </a:ext>
            </a:extLst>
          </p:cNvPr>
          <p:cNvSpPr/>
          <p:nvPr/>
        </p:nvSpPr>
        <p:spPr>
          <a:xfrm>
            <a:off x="6537960" y="291693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SHAP explanations ensure model is interpretable, not a black box</a:t>
            </a:r>
            <a:endParaRPr lang="en-US" sz="10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EE291F1-6D55-F743-3B1F-299FCFCABA1D}"/>
              </a:ext>
            </a:extLst>
          </p:cNvPr>
          <p:cNvSpPr/>
          <p:nvPr/>
        </p:nvSpPr>
        <p:spPr>
          <a:xfrm>
            <a:off x="365760" y="3703320"/>
            <a:ext cx="5760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D1C0905-3AD1-DF4E-C456-11C860373021}"/>
              </a:ext>
            </a:extLst>
          </p:cNvPr>
          <p:cNvSpPr/>
          <p:nvPr/>
        </p:nvSpPr>
        <p:spPr>
          <a:xfrm>
            <a:off x="365760" y="3703320"/>
            <a:ext cx="5760720" cy="43891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305D942-31F3-919E-DEBE-F00DBD170139}"/>
              </a:ext>
            </a:extLst>
          </p:cNvPr>
          <p:cNvSpPr/>
          <p:nvPr/>
        </p:nvSpPr>
        <p:spPr>
          <a:xfrm>
            <a:off x="457200" y="3703320"/>
            <a:ext cx="55778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Te Tiriti &amp; Māori Data Sovereignty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45F743C-B617-3619-2C29-3A4BCA6865AD}"/>
              </a:ext>
            </a:extLst>
          </p:cNvPr>
          <p:cNvSpPr/>
          <p:nvPr/>
        </p:nvSpPr>
        <p:spPr>
          <a:xfrm>
            <a:off x="502920" y="423367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South Auckland Māori/Pacific communities over-represented in crash data</a:t>
            </a: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6E64272-A3D6-38E9-A397-CD9E047910EB}"/>
              </a:ext>
            </a:extLst>
          </p:cNvPr>
          <p:cNvSpPr/>
          <p:nvPr/>
        </p:nvSpPr>
        <p:spPr>
          <a:xfrm>
            <a:off x="502920" y="47091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Tino Rangatiratanga: project doesn't speak for affected communities</a:t>
            </a:r>
            <a:endParaRPr lang="en-US" sz="10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3A9A4C0-1F46-C284-E77F-51806E0FA093}"/>
              </a:ext>
            </a:extLst>
          </p:cNvPr>
          <p:cNvSpPr/>
          <p:nvPr/>
        </p:nvSpPr>
        <p:spPr>
          <a:xfrm>
            <a:off x="502920" y="518464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Active Protection: historical underinvestment bias documented</a:t>
            </a:r>
            <a:endParaRPr lang="en-US" sz="10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6D7A8FC-5CAA-C156-9B9E-4DBBE7E71AF0}"/>
              </a:ext>
            </a:extLst>
          </p:cNvPr>
          <p:cNvSpPr/>
          <p:nvPr/>
        </p:nvSpPr>
        <p:spPr>
          <a:xfrm>
            <a:off x="502920" y="566013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R12 monitoring metrics to be co-designed with tangata whenua</a:t>
            </a:r>
            <a:endParaRPr lang="en-US" sz="10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086A156-09DD-1895-F2DA-753AA0F472B2}"/>
              </a:ext>
            </a:extLst>
          </p:cNvPr>
          <p:cNvSpPr/>
          <p:nvPr/>
        </p:nvSpPr>
        <p:spPr>
          <a:xfrm>
            <a:off x="6400800" y="3703320"/>
            <a:ext cx="5760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F1EA42C-B759-6F37-AE39-15201BDCEE16}"/>
              </a:ext>
            </a:extLst>
          </p:cNvPr>
          <p:cNvSpPr/>
          <p:nvPr/>
        </p:nvSpPr>
        <p:spPr>
          <a:xfrm>
            <a:off x="6400800" y="3703320"/>
            <a:ext cx="5760720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94CF06D-1A2E-3820-95BD-E28F3CD99CBB}"/>
              </a:ext>
            </a:extLst>
          </p:cNvPr>
          <p:cNvSpPr/>
          <p:nvPr/>
        </p:nvSpPr>
        <p:spPr>
          <a:xfrm>
            <a:off x="6492240" y="3703320"/>
            <a:ext cx="55778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Broader Societal Impact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22ABFCB-669E-4FA9-90E0-CDDA512D8140}"/>
              </a:ext>
            </a:extLst>
          </p:cNvPr>
          <p:cNvSpPr/>
          <p:nvPr/>
        </p:nvSpPr>
        <p:spPr>
          <a:xfrm>
            <a:off x="6537960" y="423367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CAS reflects crashes that occurred - not suppressed near-misses</a:t>
            </a:r>
            <a:endParaRPr lang="en-US" sz="10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E47CF63-4723-8319-E16A-CE6C5FF7025D}"/>
              </a:ext>
            </a:extLst>
          </p:cNvPr>
          <p:cNvSpPr/>
          <p:nvPr/>
        </p:nvSpPr>
        <p:spPr>
          <a:xfrm>
            <a:off x="6537960" y="47091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Under-reporting more common in communities with lower police trust</a:t>
            </a:r>
            <a:endParaRPr lang="en-US" sz="10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02E2459-FBB0-C686-2F3A-B3843DB5545A}"/>
              </a:ext>
            </a:extLst>
          </p:cNvPr>
          <p:cNvSpPr/>
          <p:nvPr/>
        </p:nvSpPr>
        <p:spPr>
          <a:xfrm>
            <a:off x="6537960" y="518464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12 recommendations prioritise infrastructure benefit not surveillance</a:t>
            </a:r>
            <a:endParaRPr lang="en-US" sz="10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9039212-A1A1-FEA0-F49E-6D1A3E6744A2}"/>
              </a:ext>
            </a:extLst>
          </p:cNvPr>
          <p:cNvSpPr/>
          <p:nvPr/>
        </p:nvSpPr>
        <p:spPr>
          <a:xfrm>
            <a:off x="6537960" y="566013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Recommend active travel demand modelling as next-step complement</a:t>
            </a:r>
            <a:endParaRPr lang="en-US" sz="10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F9F453F-6AA8-CFF8-0F01-F42FF4338782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8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7E3D503-3D87-F303-5A6B-26C311B2C4E8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8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B0895454-1DCF-826E-41F6-B3166F005749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333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DF24E2-B344-3059-F25F-D9A85FA4A07F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87E93C-9B73-AD4C-586E-5D33EF7E12B9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Updated Ethical Risk Register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6C0454-D42B-EE27-CEDE-08289642BC03}"/>
              </a:ext>
            </a:extLst>
          </p:cNvPr>
          <p:cNvSpPr/>
          <p:nvPr/>
        </p:nvSpPr>
        <p:spPr>
          <a:xfrm>
            <a:off x="457200" y="603504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risks identified during the research phase - beyond Assessment 2 scope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397CF0A-66BE-F462-8487-478EE94A164D}"/>
              </a:ext>
            </a:extLst>
          </p:cNvPr>
          <p:cNvSpPr/>
          <p:nvPr/>
        </p:nvSpPr>
        <p:spPr>
          <a:xfrm>
            <a:off x="365760" y="960120"/>
            <a:ext cx="114300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724EC97-4A12-7DD3-109B-6B142200953B}"/>
              </a:ext>
            </a:extLst>
          </p:cNvPr>
          <p:cNvSpPr/>
          <p:nvPr/>
        </p:nvSpPr>
        <p:spPr>
          <a:xfrm>
            <a:off x="411480" y="960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A09604F-5146-33D9-693B-7417012D43AE}"/>
              </a:ext>
            </a:extLst>
          </p:cNvPr>
          <p:cNvSpPr/>
          <p:nvPr/>
        </p:nvSpPr>
        <p:spPr>
          <a:xfrm>
            <a:off x="2788920" y="9601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240A18-C3AB-8199-21AB-50681E6140C9}"/>
              </a:ext>
            </a:extLst>
          </p:cNvPr>
          <p:cNvSpPr/>
          <p:nvPr/>
        </p:nvSpPr>
        <p:spPr>
          <a:xfrm>
            <a:off x="388620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/ Context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03EF28D-9E5B-CDAF-541B-2F759F8B7787}"/>
              </a:ext>
            </a:extLst>
          </p:cNvPr>
          <p:cNvSpPr/>
          <p:nvPr/>
        </p:nvSpPr>
        <p:spPr>
          <a:xfrm>
            <a:off x="781812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Applied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CE19231-B30B-3239-A8BD-DA69CD101E40}"/>
              </a:ext>
            </a:extLst>
          </p:cNvPr>
          <p:cNvSpPr/>
          <p:nvPr/>
        </p:nvSpPr>
        <p:spPr>
          <a:xfrm>
            <a:off x="365760" y="1389888"/>
            <a:ext cx="237744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D269338-E323-836C-2299-AEFC38FC7626}"/>
              </a:ext>
            </a:extLst>
          </p:cNvPr>
          <p:cNvSpPr/>
          <p:nvPr/>
        </p:nvSpPr>
        <p:spPr>
          <a:xfrm>
            <a:off x="411480" y="148132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policing misuse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9CEA4F0-B341-5662-C139-5449613AAD4F}"/>
              </a:ext>
            </a:extLst>
          </p:cNvPr>
          <p:cNvSpPr/>
          <p:nvPr/>
        </p:nvSpPr>
        <p:spPr>
          <a:xfrm>
            <a:off x="2743200" y="1389888"/>
            <a:ext cx="1097280" cy="896112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D77E600-6588-E341-39BF-B361476C8CF8}"/>
              </a:ext>
            </a:extLst>
          </p:cNvPr>
          <p:cNvSpPr/>
          <p:nvPr/>
        </p:nvSpPr>
        <p:spPr>
          <a:xfrm>
            <a:off x="2743200" y="148132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790CEB9-FE88-6372-3A15-3354AD49C572}"/>
              </a:ext>
            </a:extLst>
          </p:cNvPr>
          <p:cNvSpPr/>
          <p:nvPr/>
        </p:nvSpPr>
        <p:spPr>
          <a:xfrm>
            <a:off x="3840480" y="1389888"/>
            <a:ext cx="393192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8DF8CD5-D095-6745-C50A-9F60D62058FB}"/>
              </a:ext>
            </a:extLst>
          </p:cNvPr>
          <p:cNvSpPr/>
          <p:nvPr/>
        </p:nvSpPr>
        <p:spPr>
          <a:xfrm>
            <a:off x="3886200" y="1463040"/>
            <a:ext cx="38404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patrol routing could be misused for demographic targeting in South Auckland</a:t>
            </a:r>
            <a:endParaRPr lang="en-US" sz="9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D5988A7-EA20-C71E-89F0-09822C55B17A}"/>
              </a:ext>
            </a:extLst>
          </p:cNvPr>
          <p:cNvSpPr/>
          <p:nvPr/>
        </p:nvSpPr>
        <p:spPr>
          <a:xfrm>
            <a:off x="7772400" y="1389888"/>
            <a:ext cx="402336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942A0FD-9A0A-8EB9-2FD6-D9DADA93A80A}"/>
              </a:ext>
            </a:extLst>
          </p:cNvPr>
          <p:cNvSpPr/>
          <p:nvPr/>
        </p:nvSpPr>
        <p:spPr>
          <a:xfrm>
            <a:off x="7818120" y="1463040"/>
            <a:ext cx="393192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only; Police Algorithmic Impact Assessment required before deployment; human final decision</a:t>
            </a:r>
            <a:endParaRPr lang="en-US" sz="9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1D90F85-80FC-773D-C20F-25691034FD2A}"/>
              </a:ext>
            </a:extLst>
          </p:cNvPr>
          <p:cNvSpPr/>
          <p:nvPr/>
        </p:nvSpPr>
        <p:spPr>
          <a:xfrm>
            <a:off x="365760" y="2359152"/>
            <a:ext cx="23774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25B9CC-DA7C-8612-2C7F-9CB0F007A7EE}"/>
              </a:ext>
            </a:extLst>
          </p:cNvPr>
          <p:cNvSpPr/>
          <p:nvPr/>
        </p:nvSpPr>
        <p:spPr>
          <a:xfrm>
            <a:off x="411480" y="245059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 — South Auckland</a:t>
            </a:r>
            <a:endParaRPr lang="en-US" sz="1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92891C6-679D-E535-E2AA-7852052B79CF}"/>
              </a:ext>
            </a:extLst>
          </p:cNvPr>
          <p:cNvSpPr/>
          <p:nvPr/>
        </p:nvSpPr>
        <p:spPr>
          <a:xfrm>
            <a:off x="2743200" y="2359152"/>
            <a:ext cx="1097280" cy="896112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C3AEF22-7AC3-2023-6CBC-35CC20211EA6}"/>
              </a:ext>
            </a:extLst>
          </p:cNvPr>
          <p:cNvSpPr/>
          <p:nvPr/>
        </p:nvSpPr>
        <p:spPr>
          <a:xfrm>
            <a:off x="2743200" y="245059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AE87086-0A02-92C8-66EB-AAB7567193D6}"/>
              </a:ext>
            </a:extLst>
          </p:cNvPr>
          <p:cNvSpPr/>
          <p:nvPr/>
        </p:nvSpPr>
        <p:spPr>
          <a:xfrm>
            <a:off x="3840480" y="2359152"/>
            <a:ext cx="3931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970F749-78FE-7CA0-BEBF-5DC45F56FC0A}"/>
              </a:ext>
            </a:extLst>
          </p:cNvPr>
          <p:cNvSpPr/>
          <p:nvPr/>
        </p:nvSpPr>
        <p:spPr>
          <a:xfrm>
            <a:off x="3886200" y="2432304"/>
            <a:ext cx="38404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data reflecting historical underinvestment may underestimate risk</a:t>
            </a:r>
            <a:endParaRPr lang="en-US" sz="9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7B858DA-72E6-9490-3411-425F9D371D96}"/>
              </a:ext>
            </a:extLst>
          </p:cNvPr>
          <p:cNvSpPr/>
          <p:nvPr/>
        </p:nvSpPr>
        <p:spPr>
          <a:xfrm>
            <a:off x="7772400" y="2359152"/>
            <a:ext cx="4023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40DDE0A-1EEA-F594-5CDD-0A5C2F1BD747}"/>
              </a:ext>
            </a:extLst>
          </p:cNvPr>
          <p:cNvSpPr/>
          <p:nvPr/>
        </p:nvSpPr>
        <p:spPr>
          <a:xfrm>
            <a:off x="7818120" y="2432304"/>
            <a:ext cx="393192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explicitly documented in model docs; dashboard limitation card; co-design with community</a:t>
            </a:r>
            <a:endParaRPr lang="en-US" sz="9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B7A2C13-2521-E32D-FA73-0FF0C327754A}"/>
              </a:ext>
            </a:extLst>
          </p:cNvPr>
          <p:cNvSpPr/>
          <p:nvPr/>
        </p:nvSpPr>
        <p:spPr>
          <a:xfrm>
            <a:off x="365760" y="3328416"/>
            <a:ext cx="237744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05CC346-27E8-139C-AB85-571F2906EAED}"/>
              </a:ext>
            </a:extLst>
          </p:cNvPr>
          <p:cNvSpPr/>
          <p:nvPr/>
        </p:nvSpPr>
        <p:spPr>
          <a:xfrm>
            <a:off x="411480" y="341985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re-identification (rural)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E24A765-AF7F-E0E9-D413-F9BB3A103E4E}"/>
              </a:ext>
            </a:extLst>
          </p:cNvPr>
          <p:cNvSpPr/>
          <p:nvPr/>
        </p:nvSpPr>
        <p:spPr>
          <a:xfrm>
            <a:off x="2743200" y="3328416"/>
            <a:ext cx="1097280" cy="896112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762B868-8F0E-2732-00C0-1F32A5F20DA5}"/>
              </a:ext>
            </a:extLst>
          </p:cNvPr>
          <p:cNvSpPr/>
          <p:nvPr/>
        </p:nvSpPr>
        <p:spPr>
          <a:xfrm>
            <a:off x="2743200" y="3419856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13EBFD8-9846-1A6C-86C8-F42491DBA8AE}"/>
              </a:ext>
            </a:extLst>
          </p:cNvPr>
          <p:cNvSpPr/>
          <p:nvPr/>
        </p:nvSpPr>
        <p:spPr>
          <a:xfrm>
            <a:off x="3840480" y="3328416"/>
            <a:ext cx="393192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89084CD-FB62-E348-8F02-5885D56C7F58}"/>
              </a:ext>
            </a:extLst>
          </p:cNvPr>
          <p:cNvSpPr/>
          <p:nvPr/>
        </p:nvSpPr>
        <p:spPr>
          <a:xfrm>
            <a:off x="3886200" y="3401568"/>
            <a:ext cx="38404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crashes with unique local context could identify individuals</a:t>
            </a:r>
            <a:endParaRPr lang="en-US" sz="9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A26C95E1-3FF9-7F1B-3D4B-6B9DDE20001A}"/>
              </a:ext>
            </a:extLst>
          </p:cNvPr>
          <p:cNvSpPr/>
          <p:nvPr/>
        </p:nvSpPr>
        <p:spPr>
          <a:xfrm>
            <a:off x="7772400" y="3328416"/>
            <a:ext cx="402336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89732C4-2B2A-01E5-6F19-39C4DE2E5986}"/>
              </a:ext>
            </a:extLst>
          </p:cNvPr>
          <p:cNvSpPr/>
          <p:nvPr/>
        </p:nvSpPr>
        <p:spPr>
          <a:xfrm>
            <a:off x="7818120" y="3401568"/>
            <a:ext cx="393192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1km grid aggregation for all public outputs; cell suppression for n &lt; 5</a:t>
            </a:r>
            <a:endParaRPr lang="en-US" sz="95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030B7D7-5881-F04A-920B-58A87D04E264}"/>
              </a:ext>
            </a:extLst>
          </p:cNvPr>
          <p:cNvSpPr/>
          <p:nvPr/>
        </p:nvSpPr>
        <p:spPr>
          <a:xfrm>
            <a:off x="365760" y="4297680"/>
            <a:ext cx="23774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C512E6B-0390-DABC-ED8C-D8F854BD80F0}"/>
              </a:ext>
            </a:extLst>
          </p:cNvPr>
          <p:cNvSpPr/>
          <p:nvPr/>
        </p:nvSpPr>
        <p:spPr>
          <a:xfrm>
            <a:off x="411480" y="43891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Māori data sovereignty</a:t>
            </a:r>
            <a:endParaRPr lang="en-US" sz="10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D0F9C9B-758C-AB31-401A-3928314BF079}"/>
              </a:ext>
            </a:extLst>
          </p:cNvPr>
          <p:cNvSpPr/>
          <p:nvPr/>
        </p:nvSpPr>
        <p:spPr>
          <a:xfrm>
            <a:off x="2743200" y="4297680"/>
            <a:ext cx="1097280" cy="896112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2B6E944-39F0-C51F-1E02-C22EC06E9581}"/>
              </a:ext>
            </a:extLst>
          </p:cNvPr>
          <p:cNvSpPr/>
          <p:nvPr/>
        </p:nvSpPr>
        <p:spPr>
          <a:xfrm>
            <a:off x="2743200" y="438912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87E9EA6C-C2F9-2F80-9249-05562AEAF595}"/>
              </a:ext>
            </a:extLst>
          </p:cNvPr>
          <p:cNvSpPr/>
          <p:nvPr/>
        </p:nvSpPr>
        <p:spPr>
          <a:xfrm>
            <a:off x="3840480" y="4297680"/>
            <a:ext cx="3931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88C67E7-3CF9-5D9A-6077-EBFCD8E250A9}"/>
              </a:ext>
            </a:extLst>
          </p:cNvPr>
          <p:cNvSpPr/>
          <p:nvPr/>
        </p:nvSpPr>
        <p:spPr>
          <a:xfrm>
            <a:off x="3886200" y="4370832"/>
            <a:ext cx="38404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data disproportionately reflects Māori communities without their governance</a:t>
            </a:r>
            <a:endParaRPr lang="en-US" sz="9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BDD25B9D-3F8B-8455-9E9A-1E4B4DF04A81}"/>
              </a:ext>
            </a:extLst>
          </p:cNvPr>
          <p:cNvSpPr/>
          <p:nvPr/>
        </p:nvSpPr>
        <p:spPr>
          <a:xfrm>
            <a:off x="7772400" y="4297680"/>
            <a:ext cx="4023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7899B7E-6031-1564-4ACE-248316B316F2}"/>
              </a:ext>
            </a:extLst>
          </p:cNvPr>
          <p:cNvSpPr/>
          <p:nvPr/>
        </p:nvSpPr>
        <p:spPr>
          <a:xfrm>
            <a:off x="7818120" y="4370832"/>
            <a:ext cx="393192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 monitoring co-designed with tangata whenua; findings don't attribute causes to cultural factors</a:t>
            </a:r>
            <a:endParaRPr lang="en-US" sz="95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B666E43D-32A2-321B-5161-215FEF00DABB}"/>
              </a:ext>
            </a:extLst>
          </p:cNvPr>
          <p:cNvSpPr/>
          <p:nvPr/>
        </p:nvSpPr>
        <p:spPr>
          <a:xfrm>
            <a:off x="365760" y="5266944"/>
            <a:ext cx="237744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87AD389-B92D-B9BF-B3DD-6886BB34B4D2}"/>
              </a:ext>
            </a:extLst>
          </p:cNvPr>
          <p:cNvSpPr/>
          <p:nvPr/>
        </p:nvSpPr>
        <p:spPr>
          <a:xfrm>
            <a:off x="411480" y="535838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misinterpretation</a:t>
            </a:r>
            <a:endParaRPr lang="en-US" sz="10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EB0CD9E8-9C14-FB85-727F-FADE8515D64E}"/>
              </a:ext>
            </a:extLst>
          </p:cNvPr>
          <p:cNvSpPr/>
          <p:nvPr/>
        </p:nvSpPr>
        <p:spPr>
          <a:xfrm>
            <a:off x="2743200" y="5266944"/>
            <a:ext cx="1097280" cy="8961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BFB74BCD-0E4D-25BE-6382-634153FC065B}"/>
              </a:ext>
            </a:extLst>
          </p:cNvPr>
          <p:cNvSpPr/>
          <p:nvPr/>
        </p:nvSpPr>
        <p:spPr>
          <a:xfrm>
            <a:off x="2743200" y="535838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3BE99424-BE94-E1FF-6041-35D9AB6AC2BF}"/>
              </a:ext>
            </a:extLst>
          </p:cNvPr>
          <p:cNvSpPr/>
          <p:nvPr/>
        </p:nvSpPr>
        <p:spPr>
          <a:xfrm>
            <a:off x="3840480" y="5266944"/>
            <a:ext cx="393192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A948A929-2C92-AADA-840C-1D4833246129}"/>
              </a:ext>
            </a:extLst>
          </p:cNvPr>
          <p:cNvSpPr/>
          <p:nvPr/>
        </p:nvSpPr>
        <p:spPr>
          <a:xfrm>
            <a:off x="3886200" y="5340096"/>
            <a:ext cx="38404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users may misread AUC, Cramér's V or confidence levels</a:t>
            </a:r>
            <a:endParaRPr lang="en-US" sz="9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0DEBEBC-51ED-524E-5D8D-F4EC384E8173}"/>
              </a:ext>
            </a:extLst>
          </p:cNvPr>
          <p:cNvSpPr/>
          <p:nvPr/>
        </p:nvSpPr>
        <p:spPr>
          <a:xfrm>
            <a:off x="7772400" y="5266944"/>
            <a:ext cx="402336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5ED46B1B-908B-6A11-ADCD-EA2F95A5CDC4}"/>
              </a:ext>
            </a:extLst>
          </p:cNvPr>
          <p:cNvSpPr/>
          <p:nvPr/>
        </p:nvSpPr>
        <p:spPr>
          <a:xfrm>
            <a:off x="7818120" y="5340096"/>
            <a:ext cx="393192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tooltips on all KPI cards; mandatory methodology note cards on slides 3 &amp; 4</a:t>
            </a:r>
            <a:endParaRPr lang="en-US" sz="95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D501FC9D-530B-8BDD-0CE5-EA4030C8B4F4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8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D4537951-527A-A354-1214-07A836FE6A0B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3771442A-4F1A-381E-68A1-6CBAE6139B7C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04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9716CE-9A2B-D4AA-A1C6-4DAD01901E4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78C2F7-1673-DCD4-61E1-0207100A29A5}"/>
              </a:ext>
            </a:extLst>
          </p:cNvPr>
          <p:cNvSpPr/>
          <p:nvPr/>
        </p:nvSpPr>
        <p:spPr>
          <a:xfrm>
            <a:off x="45720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Conclusion &amp; Next Steps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59B018B-52CB-0073-4E5C-72E5A60949BC}"/>
              </a:ext>
            </a:extLst>
          </p:cNvPr>
          <p:cNvSpPr/>
          <p:nvPr/>
        </p:nvSpPr>
        <p:spPr>
          <a:xfrm>
            <a:off x="457200" y="822960"/>
            <a:ext cx="1124712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900950-D228-C3A5-7BCF-80A99B45DC90}"/>
              </a:ext>
            </a:extLst>
          </p:cNvPr>
          <p:cNvSpPr/>
          <p:nvPr/>
        </p:nvSpPr>
        <p:spPr>
          <a:xfrm>
            <a:off x="365760" y="960120"/>
            <a:ext cx="11430000" cy="804672"/>
          </a:xfrm>
          <a:prstGeom prst="rect">
            <a:avLst/>
          </a:prstGeom>
          <a:solidFill>
            <a:srgbClr val="0D2847"/>
          </a:solidFill>
          <a:ln w="635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7D27B9F-2A91-FF11-1C60-CE6B88410C1C}"/>
              </a:ext>
            </a:extLst>
          </p:cNvPr>
          <p:cNvSpPr/>
          <p:nvPr/>
        </p:nvSpPr>
        <p:spPr>
          <a:xfrm>
            <a:off x="365760" y="96012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8CCF450-9C1B-CEB3-92E5-6AB434EC12BF}"/>
              </a:ext>
            </a:extLst>
          </p:cNvPr>
          <p:cNvSpPr/>
          <p:nvPr/>
        </p:nvSpPr>
        <p:spPr>
          <a:xfrm>
            <a:off x="1051560" y="987552"/>
            <a:ext cx="10607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hotspot cells identified — SH1 Southern Motorway corridor confirmed at 99.9% confidence via two independent methods (KDE + Gi*)</a:t>
            </a:r>
            <a:endParaRPr lang="en-US" sz="11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E352EC7-3387-CF93-F168-7112BC6A216A}"/>
              </a:ext>
            </a:extLst>
          </p:cNvPr>
          <p:cNvSpPr/>
          <p:nvPr/>
        </p:nvSpPr>
        <p:spPr>
          <a:xfrm>
            <a:off x="365760" y="1874520"/>
            <a:ext cx="11430000" cy="804672"/>
          </a:xfrm>
          <a:prstGeom prst="rect">
            <a:avLst/>
          </a:prstGeom>
          <a:solidFill>
            <a:srgbClr val="0D2847"/>
          </a:solidFill>
          <a:ln w="635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D2DA3FD-EC0D-6637-32CC-DF2258BCF23C}"/>
              </a:ext>
            </a:extLst>
          </p:cNvPr>
          <p:cNvSpPr/>
          <p:nvPr/>
        </p:nvSpPr>
        <p:spPr>
          <a:xfrm>
            <a:off x="365760" y="187452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B20063F-7C41-2D29-566B-3211B8253DEA}"/>
              </a:ext>
            </a:extLst>
          </p:cNvPr>
          <p:cNvSpPr/>
          <p:nvPr/>
        </p:nvSpPr>
        <p:spPr>
          <a:xfrm>
            <a:off x="1051560" y="1901952"/>
            <a:ext cx="10607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achieves ROC-AUC 0.718, recall 63.8% — meaningful predictive signal within public data constraints. Lighting and VU involvement = strongest severity predictors</a:t>
            </a:r>
            <a:endParaRPr lang="en-US" sz="11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E0E7DDD-79D5-7F4C-8336-B5915070B92A}"/>
              </a:ext>
            </a:extLst>
          </p:cNvPr>
          <p:cNvSpPr/>
          <p:nvPr/>
        </p:nvSpPr>
        <p:spPr>
          <a:xfrm>
            <a:off x="365760" y="2788920"/>
            <a:ext cx="11430000" cy="804672"/>
          </a:xfrm>
          <a:prstGeom prst="rect">
            <a:avLst/>
          </a:prstGeom>
          <a:solidFill>
            <a:srgbClr val="0D2847"/>
          </a:solidFill>
          <a:ln w="635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5E2A48A-66EE-AECE-8E3A-C182728083CF}"/>
              </a:ext>
            </a:extLst>
          </p:cNvPr>
          <p:cNvSpPr/>
          <p:nvPr/>
        </p:nvSpPr>
        <p:spPr>
          <a:xfrm>
            <a:off x="365760" y="278892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6808843-57D8-2ED0-96B9-984CD8FEFE75}"/>
              </a:ext>
            </a:extLst>
          </p:cNvPr>
          <p:cNvSpPr/>
          <p:nvPr/>
        </p:nvSpPr>
        <p:spPr>
          <a:xfrm>
            <a:off x="1051560" y="2816352"/>
            <a:ext cx="10607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effect: statistically significant (p=0.018) but practically negligible (V=0.0095). Labour Weekend (+1.47pp) is the actionable exception</a:t>
            </a:r>
            <a:endParaRPr lang="en-US" sz="11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1B52AF5-E3F0-B433-A99A-F2ABACBEB068}"/>
              </a:ext>
            </a:extLst>
          </p:cNvPr>
          <p:cNvSpPr/>
          <p:nvPr/>
        </p:nvSpPr>
        <p:spPr>
          <a:xfrm>
            <a:off x="365760" y="3703320"/>
            <a:ext cx="11430000" cy="804672"/>
          </a:xfrm>
          <a:prstGeom prst="rect">
            <a:avLst/>
          </a:prstGeom>
          <a:solidFill>
            <a:srgbClr val="0D2847"/>
          </a:solidFill>
          <a:ln w="635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62C07C-950B-52FF-C956-80F7FBBCC2CC}"/>
              </a:ext>
            </a:extLst>
          </p:cNvPr>
          <p:cNvSpPr/>
          <p:nvPr/>
        </p:nvSpPr>
        <p:spPr>
          <a:xfrm>
            <a:off x="365760" y="370332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🚶</a:t>
            </a:r>
            <a:endParaRPr lang="en-US" sz="2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A0F8C05-7FC5-8CB3-1B7F-3314D3B99D04}"/>
              </a:ext>
            </a:extLst>
          </p:cNvPr>
          <p:cNvSpPr/>
          <p:nvPr/>
        </p:nvSpPr>
        <p:spPr>
          <a:xfrm>
            <a:off x="1051560" y="3730752"/>
            <a:ext cx="10607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8.95× relative risk for vulnerable users — the strongest single finding. Road lane type and lighting are the strongest modifiable factors</a:t>
            </a:r>
            <a:endParaRPr lang="en-US" sz="11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04A2F80-D4BE-4423-F135-A26517F1EFBF}"/>
              </a:ext>
            </a:extLst>
          </p:cNvPr>
          <p:cNvSpPr/>
          <p:nvPr/>
        </p:nvSpPr>
        <p:spPr>
          <a:xfrm>
            <a:off x="365760" y="4617720"/>
            <a:ext cx="11430000" cy="804672"/>
          </a:xfrm>
          <a:prstGeom prst="rect">
            <a:avLst/>
          </a:prstGeom>
          <a:solidFill>
            <a:srgbClr val="0D2847"/>
          </a:solidFill>
          <a:ln w="635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42E9870-78B7-F6BB-CF3B-6DECBB3B34B6}"/>
              </a:ext>
            </a:extLst>
          </p:cNvPr>
          <p:cNvSpPr/>
          <p:nvPr/>
        </p:nvSpPr>
        <p:spPr>
          <a:xfrm>
            <a:off x="365760" y="461772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3159AB7-FBFD-A246-1BA3-9CD781BC32B9}"/>
              </a:ext>
            </a:extLst>
          </p:cNvPr>
          <p:cNvSpPr/>
          <p:nvPr/>
        </p:nvSpPr>
        <p:spPr>
          <a:xfrm>
            <a:off x="1051560" y="4645152"/>
            <a:ext cx="10607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NZD 15–20M estimated annual ROI from 12 evidence-based recommendations across 3 independent intervention streams</a:t>
            </a:r>
            <a:endParaRPr lang="en-US" sz="11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7DA9F0C-6BB0-8C5F-692B-95A73429F2B4}"/>
              </a:ext>
            </a:extLst>
          </p:cNvPr>
          <p:cNvSpPr/>
          <p:nvPr/>
        </p:nvSpPr>
        <p:spPr>
          <a:xfrm>
            <a:off x="365760" y="5596128"/>
            <a:ext cx="11430000" cy="8961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930B000-1A96-37E2-BEC6-1F94EBFB451A}"/>
              </a:ext>
            </a:extLst>
          </p:cNvPr>
          <p:cNvSpPr/>
          <p:nvPr/>
        </p:nvSpPr>
        <p:spPr>
          <a:xfrm>
            <a:off x="502920" y="564184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BAAD4B4-7363-7EC5-67FE-39C12E0060B2}"/>
              </a:ext>
            </a:extLst>
          </p:cNvPr>
          <p:cNvSpPr/>
          <p:nvPr/>
        </p:nvSpPr>
        <p:spPr>
          <a:xfrm>
            <a:off x="1828800" y="5641848"/>
            <a:ext cx="978408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NZTA real-time API integration  ·  Police Algorithmic Impact Assessment for ML deployment  ·  Community co-design of monitoring metrics with tangata whenua  ·  Active travel demand modelling to complement crash data analysis</a:t>
            </a: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6733C2F-71DA-EE0E-6B4C-324DB4EBCC51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402D913-C158-E8BA-9573-A8819B0859B2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907BF1A-D001-D128-B779-F33F99B5D879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689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22E9D1A-D979-8ECD-96D5-99E0DB6B83E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04248A-538B-A053-13E1-55CEA8CCE17B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 (APA 7th Edition)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FFD83C-9E27-A336-32FD-1D5517ADD77D}"/>
              </a:ext>
            </a:extLst>
          </p:cNvPr>
          <p:cNvSpPr/>
          <p:nvPr/>
        </p:nvSpPr>
        <p:spPr>
          <a:xfrm>
            <a:off x="365760" y="91440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Anderson, T. K. (2009). Kernel density estimation and K-means clustering to profile road accident hotspots. Accident Analysis &amp; Prevention, 41(3), 359–364.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84FE0D6-BF76-5CB0-ABFF-9A10B592AC31}"/>
              </a:ext>
            </a:extLst>
          </p:cNvPr>
          <p:cNvSpPr/>
          <p:nvPr/>
        </p:nvSpPr>
        <p:spPr>
          <a:xfrm>
            <a:off x="365760" y="178308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T., &amp; Guestrin, C. (2016). XGBoost: A scalable tree boosting system. Proceedings of KDD 2016, 785–794.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2AEB0C3-F9BE-2F39-4AC6-DA0A14FAF7BE}"/>
              </a:ext>
            </a:extLst>
          </p:cNvPr>
          <p:cNvSpPr/>
          <p:nvPr/>
        </p:nvSpPr>
        <p:spPr>
          <a:xfrm>
            <a:off x="365760" y="265176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Getis, A., &amp; Ord, J. K. (1992). The analysis of spatial association by use of distance statistics. Geographical Analysis, 24(3), 189–206.</a:t>
            </a:r>
            <a:endParaRPr lang="en-US" sz="9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F393AD0-0E0C-9388-A195-D2A68BD78DEE}"/>
              </a:ext>
            </a:extLst>
          </p:cNvPr>
          <p:cNvSpPr/>
          <p:nvPr/>
        </p:nvSpPr>
        <p:spPr>
          <a:xfrm>
            <a:off x="365760" y="352044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Lundberg, S. M., &amp; Lee, S. I. (2017). A unified approach to interpreting model predictions. NeurIPS 30.</a:t>
            </a:r>
            <a:endParaRPr lang="en-US" sz="9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08418C7-C5E2-C560-42D9-8F5A6D547037}"/>
              </a:ext>
            </a:extLst>
          </p:cNvPr>
          <p:cNvSpPr/>
          <p:nvPr/>
        </p:nvSpPr>
        <p:spPr>
          <a:xfrm>
            <a:off x="365760" y="438912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Mannering, F., Shankar, V., &amp; Bhat, C. R. (2020). Unobserved heterogeneity and the statistical analysis of highway accident data. Analytic Methods in Accident Research, 11, 1–16.</a:t>
            </a:r>
            <a:endParaRPr lang="en-US" sz="9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051602E-7E8C-7AF9-82A5-D18E168B9C6A}"/>
              </a:ext>
            </a:extLst>
          </p:cNvPr>
          <p:cNvSpPr/>
          <p:nvPr/>
        </p:nvSpPr>
        <p:spPr>
          <a:xfrm>
            <a:off x="365760" y="525780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Transport. (2019). Road to Zero: New Zealand's road safety strategy 2020–2030. Wellington: NZ Government.</a:t>
            </a:r>
            <a:endParaRPr lang="en-US" sz="9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2427032-A917-5420-B397-AC3CC2EF157C}"/>
              </a:ext>
            </a:extLst>
          </p:cNvPr>
          <p:cNvSpPr/>
          <p:nvPr/>
        </p:nvSpPr>
        <p:spPr>
          <a:xfrm>
            <a:off x="6400800" y="91440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Nielsen, J. (1994). Usability engineering. Morgan Kaufmann.</a:t>
            </a:r>
            <a:endParaRPr lang="en-US" sz="9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5599B74-2C13-CAD0-09A0-D22AAD7E60ED}"/>
              </a:ext>
            </a:extLst>
          </p:cNvPr>
          <p:cNvSpPr/>
          <p:nvPr/>
        </p:nvSpPr>
        <p:spPr>
          <a:xfrm>
            <a:off x="6400800" y="178308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Zealand Transport Agency. (2024). Social cost of road crashes and injuries. Wellington: NZTA.</a:t>
            </a:r>
            <a:endParaRPr lang="en-US" sz="9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373C026-AAF7-30FE-F54B-86C7BB1D8B88}"/>
              </a:ext>
            </a:extLst>
          </p:cNvPr>
          <p:cNvSpPr/>
          <p:nvPr/>
        </p:nvSpPr>
        <p:spPr>
          <a:xfrm>
            <a:off x="6400800" y="265176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Zealand Transport Agency. (2024). Crash Analysis System (CAS) open data. NZTA Open Data Portal.</a:t>
            </a:r>
            <a:endParaRPr lang="en-US" sz="9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F8919A1-2832-3AB0-285A-444004CF2237}"/>
              </a:ext>
            </a:extLst>
          </p:cNvPr>
          <p:cNvSpPr/>
          <p:nvPr/>
        </p:nvSpPr>
        <p:spPr>
          <a:xfrm>
            <a:off x="6400800" y="352044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Tūhoe Aho Tākiri ki te Rangi. (2019). He Korowai Atawhai: Māori data sovereignty principles.</a:t>
            </a:r>
            <a:endParaRPr lang="en-US" sz="9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132BF99-C3CC-8018-3BCE-DE1E2B25EE11}"/>
              </a:ext>
            </a:extLst>
          </p:cNvPr>
          <p:cNvSpPr/>
          <p:nvPr/>
        </p:nvSpPr>
        <p:spPr>
          <a:xfrm>
            <a:off x="6400800" y="438912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Organization. (2023). Global status report on road safety 2023. Geneva: WHO.</a:t>
            </a:r>
            <a:endParaRPr lang="en-US" sz="9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8DD6618-E35F-E0F1-1D0B-C9A5C94EBBE4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589A025-34E6-9EA5-AEDC-83ADE636A349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8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BD36F76-F87A-82B4-13A5-75F9B91E0B9F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719AD0C9-C8D4-B48B-5F93-B2F91814235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20674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1A4369-C7D0-F031-C115-A34B5EAC3D2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A10927-2BDF-B841-C56B-6BB5D2BF0F3E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Preparation - Likely Questions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511678-771D-462C-E474-1904D627747D}"/>
              </a:ext>
            </a:extLst>
          </p:cNvPr>
          <p:cNvSpPr/>
          <p:nvPr/>
        </p:nvSpPr>
        <p:spPr>
          <a:xfrm>
            <a:off x="457200" y="603504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responses demonstrating depth of understanding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50306A6-B2F3-310E-6D75-2069C42C89F8}"/>
              </a:ext>
            </a:extLst>
          </p:cNvPr>
          <p:cNvSpPr/>
          <p:nvPr/>
        </p:nvSpPr>
        <p:spPr>
          <a:xfrm>
            <a:off x="365760" y="960120"/>
            <a:ext cx="11430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3F9C462-7BB9-FED7-01D1-B1379A3D443D}"/>
              </a:ext>
            </a:extLst>
          </p:cNvPr>
          <p:cNvSpPr/>
          <p:nvPr/>
        </p:nvSpPr>
        <p:spPr>
          <a:xfrm>
            <a:off x="365760" y="960120"/>
            <a:ext cx="502920" cy="1280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1F8121-E577-E6CD-2640-65E44E85C79E}"/>
              </a:ext>
            </a:extLst>
          </p:cNvPr>
          <p:cNvSpPr/>
          <p:nvPr/>
        </p:nvSpPr>
        <p:spPr>
          <a:xfrm>
            <a:off x="365760" y="96012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A238487-0E7C-4D15-679C-EA06A4B6869A}"/>
              </a:ext>
            </a:extLst>
          </p:cNvPr>
          <p:cNvSpPr/>
          <p:nvPr/>
        </p:nvSpPr>
        <p:spPr>
          <a:xfrm>
            <a:off x="960120" y="103327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didn't you achieve the ROC-AUC &gt; 0.85 target from Assessment 1?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CF934D6-04F4-8A96-FF47-A09800D66B4E}"/>
              </a:ext>
            </a:extLst>
          </p:cNvPr>
          <p:cNvSpPr/>
          <p:nvPr/>
        </p:nvSpPr>
        <p:spPr>
          <a:xfrm>
            <a:off x="960120" y="146304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The public CAS dataset lacks crash hour, driver speed, and alcohol data - the primary severity predictors in literature. All three models converge at ~0.72, confirming a data ceiling, not a model failure. This is consistent with published benchmarks for equivalent feature sets (Mannering et al., 2020).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5342406-5B18-217C-D40E-C843BE6601B0}"/>
              </a:ext>
            </a:extLst>
          </p:cNvPr>
          <p:cNvSpPr/>
          <p:nvPr/>
        </p:nvSpPr>
        <p:spPr>
          <a:xfrm>
            <a:off x="365760" y="2359152"/>
            <a:ext cx="11430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9BA7437-646A-D362-9EE2-A21D00A47F65}"/>
              </a:ext>
            </a:extLst>
          </p:cNvPr>
          <p:cNvSpPr/>
          <p:nvPr/>
        </p:nvSpPr>
        <p:spPr>
          <a:xfrm>
            <a:off x="365760" y="2359152"/>
            <a:ext cx="502920" cy="1280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4BFB2AE-0229-1857-2BD1-E52C23485054}"/>
              </a:ext>
            </a:extLst>
          </p:cNvPr>
          <p:cNvSpPr/>
          <p:nvPr/>
        </p:nvSpPr>
        <p:spPr>
          <a:xfrm>
            <a:off x="365760" y="2359152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C49D0F7-EEAB-8AD1-3599-983D289C737C}"/>
              </a:ext>
            </a:extLst>
          </p:cNvPr>
          <p:cNvSpPr/>
          <p:nvPr/>
        </p:nvSpPr>
        <p:spPr>
          <a:xfrm>
            <a:off x="960120" y="243230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Isn't using ML for police patrol routing ethically problematic?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ED0182E-29F3-2C48-4926-49998A73A8CD}"/>
              </a:ext>
            </a:extLst>
          </p:cNvPr>
          <p:cNvSpPr/>
          <p:nvPr/>
        </p:nvSpPr>
        <p:spPr>
          <a:xfrm>
            <a:off x="960120" y="2862072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Yes - this risk was identified and mitigated. The recommendation frames ML as a location-level patrol support tool, not automated enforcement. Human officer final decision is required. A formal NZ Police Algorithmic Impact Assessment must precede deployment. Predictions identify roads, not individuals.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EEF3A3C-9695-0D47-C0CD-023294181DF8}"/>
              </a:ext>
            </a:extLst>
          </p:cNvPr>
          <p:cNvSpPr/>
          <p:nvPr/>
        </p:nvSpPr>
        <p:spPr>
          <a:xfrm>
            <a:off x="365760" y="3758184"/>
            <a:ext cx="11430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59BDD28-25E0-FDF1-DD47-38DD9F081DC6}"/>
              </a:ext>
            </a:extLst>
          </p:cNvPr>
          <p:cNvSpPr/>
          <p:nvPr/>
        </p:nvSpPr>
        <p:spPr>
          <a:xfrm>
            <a:off x="365760" y="3758184"/>
            <a:ext cx="502920" cy="1280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552F661-3453-573C-4488-2433A916D05E}"/>
              </a:ext>
            </a:extLst>
          </p:cNvPr>
          <p:cNvSpPr/>
          <p:nvPr/>
        </p:nvSpPr>
        <p:spPr>
          <a:xfrm>
            <a:off x="365760" y="3758184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EA456C6-7AA4-E8CE-31BD-9550DBC248FE}"/>
              </a:ext>
            </a:extLst>
          </p:cNvPr>
          <p:cNvSpPr/>
          <p:nvPr/>
        </p:nvSpPr>
        <p:spPr>
          <a:xfrm>
            <a:off x="960120" y="383133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The holiday chi-square is significant but Cramér's V is negligible - which should we act on?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E2D30F3-3129-1489-F451-FD6A9C4A4676}"/>
              </a:ext>
            </a:extLst>
          </p:cNvPr>
          <p:cNvSpPr/>
          <p:nvPr/>
        </p:nvSpPr>
        <p:spPr>
          <a:xfrm>
            <a:off x="960120" y="4261104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Both are correct but measure different things. Statistical significance (p=0.018) reflects the large sample size. Cramér's V=0.0095 tells us the practical effect is tiny. The actionable conclusion is targeted Labour Weekend enforcement - not calendar-wide resource reallocation.</a:t>
            </a:r>
            <a:endParaRPr lang="en-US" sz="1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8C85D9D-C1C9-D96D-48A9-A7DB6A24CD32}"/>
              </a:ext>
            </a:extLst>
          </p:cNvPr>
          <p:cNvSpPr/>
          <p:nvPr/>
        </p:nvSpPr>
        <p:spPr>
          <a:xfrm>
            <a:off x="365760" y="5157216"/>
            <a:ext cx="11430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39013B7-25C2-EF2D-24BD-D45E149BBCAB}"/>
              </a:ext>
            </a:extLst>
          </p:cNvPr>
          <p:cNvSpPr/>
          <p:nvPr/>
        </p:nvSpPr>
        <p:spPr>
          <a:xfrm>
            <a:off x="365760" y="5157216"/>
            <a:ext cx="502920" cy="1280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EC91F26-AE0C-1C77-FB05-287DC2093389}"/>
              </a:ext>
            </a:extLst>
          </p:cNvPr>
          <p:cNvSpPr/>
          <p:nvPr/>
        </p:nvSpPr>
        <p:spPr>
          <a:xfrm>
            <a:off x="365760" y="5157216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F141603-B489-BE25-2B7B-61E15A61F1A0}"/>
              </a:ext>
            </a:extLst>
          </p:cNvPr>
          <p:cNvSpPr/>
          <p:nvPr/>
        </p:nvSpPr>
        <p:spPr>
          <a:xfrm>
            <a:off x="960120" y="52303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did you address Te Tiriti o Waitangi obligations in a technical data project?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D8669B5-3026-9226-3C4A-EAE5F7F1146B}"/>
              </a:ext>
            </a:extLst>
          </p:cNvPr>
          <p:cNvSpPr/>
          <p:nvPr/>
        </p:nvSpPr>
        <p:spPr>
          <a:xfrm>
            <a:off x="960120" y="5660136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Three ways: (1) Tino Rangatiratanga - findings don't attribute crash causes to cultural factors. (2) Active Protection - South Auckland bias is explicitly documented. (3) Partnership - R12 recommends co-designing monitoring metrics with tangata whenua representatives, not imposing Crown-defined KPIs.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A3C2495-D1D4-4697-BF7F-A184C3741598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D3E8E91-16A7-E9D9-9106-C60F67699F9D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8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69E22A7-172F-1557-F299-EE71DF8467EA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948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F41CE98-8158-D3ED-CEB7-EB9DB9C6D935}"/>
              </a:ext>
            </a:extLst>
          </p:cNvPr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ABBAF7D-ED18-D0FB-327A-8A65DAEC9C1B}"/>
              </a:ext>
            </a:extLst>
          </p:cNvPr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B3B52C7-B5BD-5941-4AC9-93A4A64BF697}"/>
              </a:ext>
            </a:extLst>
          </p:cNvPr>
          <p:cNvSpPr/>
          <p:nvPr/>
        </p:nvSpPr>
        <p:spPr>
          <a:xfrm>
            <a:off x="914400" y="1097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C9BBD7-A77F-15E9-A918-9B1663738454}"/>
              </a:ext>
            </a:extLst>
          </p:cNvPr>
          <p:cNvSpPr/>
          <p:nvPr/>
        </p:nvSpPr>
        <p:spPr>
          <a:xfrm>
            <a:off x="914400" y="214884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3D4D246-2ED7-526A-7ADC-84D0FCF4C60B}"/>
              </a:ext>
            </a:extLst>
          </p:cNvPr>
          <p:cNvSpPr/>
          <p:nvPr/>
        </p:nvSpPr>
        <p:spPr>
          <a:xfrm>
            <a:off x="1828800" y="2834640"/>
            <a:ext cx="8531352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31714F2-8A68-A0C5-0277-88C1298E275A}"/>
              </a:ext>
            </a:extLst>
          </p:cNvPr>
          <p:cNvSpPr/>
          <p:nvPr/>
        </p:nvSpPr>
        <p:spPr>
          <a:xfrm>
            <a:off x="822960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111,657</a:t>
            </a:r>
            <a:endParaRPr lang="en-US" sz="2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E0736BB-DDC9-B55B-4715-BA30E368ADBD}"/>
              </a:ext>
            </a:extLst>
          </p:cNvPr>
          <p:cNvSpPr/>
          <p:nvPr/>
        </p:nvSpPr>
        <p:spPr>
          <a:xfrm>
            <a:off x="82296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Records Analysed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B473111-DF63-4D5F-9604-D5A3616C1F22}"/>
              </a:ext>
            </a:extLst>
          </p:cNvPr>
          <p:cNvSpPr/>
          <p:nvPr/>
        </p:nvSpPr>
        <p:spPr>
          <a:xfrm>
            <a:off x="3063240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03FAAA7-AE85-F2E6-F752-20EDD0D25434}"/>
              </a:ext>
            </a:extLst>
          </p:cNvPr>
          <p:cNvSpPr/>
          <p:nvPr/>
        </p:nvSpPr>
        <p:spPr>
          <a:xfrm>
            <a:off x="306324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Cells Identified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792E5BC-8104-5A22-B593-8F85E09E9425}"/>
              </a:ext>
            </a:extLst>
          </p:cNvPr>
          <p:cNvSpPr/>
          <p:nvPr/>
        </p:nvSpPr>
        <p:spPr>
          <a:xfrm>
            <a:off x="5303520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8.95×</a:t>
            </a:r>
            <a:endParaRPr lang="en-US" sz="2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2CC4365-BD93-2BAE-8AFD-F2B8305C3D59}"/>
              </a:ext>
            </a:extLst>
          </p:cNvPr>
          <p:cNvSpPr/>
          <p:nvPr/>
        </p:nvSpPr>
        <p:spPr>
          <a:xfrm>
            <a:off x="530352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Relative Risk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D642C70-3D1D-000F-14B8-C71CBB7696F4}"/>
              </a:ext>
            </a:extLst>
          </p:cNvPr>
          <p:cNvSpPr/>
          <p:nvPr/>
        </p:nvSpPr>
        <p:spPr>
          <a:xfrm>
            <a:off x="7543800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6BE51A7-E659-05C6-6D66-83B0FD0D0576}"/>
              </a:ext>
            </a:extLst>
          </p:cNvPr>
          <p:cNvSpPr/>
          <p:nvPr/>
        </p:nvSpPr>
        <p:spPr>
          <a:xfrm>
            <a:off x="754380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Recommendations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908F674-1DA0-2731-751E-01B529E74501}"/>
              </a:ext>
            </a:extLst>
          </p:cNvPr>
          <p:cNvSpPr/>
          <p:nvPr/>
        </p:nvSpPr>
        <p:spPr>
          <a:xfrm>
            <a:off x="9784080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NZD 15–20M</a:t>
            </a:r>
            <a:endParaRPr lang="en-US" sz="2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FAABC64-535B-9308-2E57-96D68B0BA641}"/>
              </a:ext>
            </a:extLst>
          </p:cNvPr>
          <p:cNvSpPr/>
          <p:nvPr/>
        </p:nvSpPr>
        <p:spPr>
          <a:xfrm>
            <a:off x="978408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ROI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A878830-9D14-3FDF-53DB-08B23CFCF288}"/>
              </a:ext>
            </a:extLst>
          </p:cNvPr>
          <p:cNvSpPr/>
          <p:nvPr/>
        </p:nvSpPr>
        <p:spPr>
          <a:xfrm>
            <a:off x="1828800" y="4297680"/>
            <a:ext cx="8531352" cy="0"/>
          </a:xfrm>
          <a:prstGeom prst="line">
            <a:avLst/>
          </a:prstGeom>
          <a:noFill/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42AF560-0FD9-3EA4-D4B0-6F3B6DBB29C1}"/>
              </a:ext>
            </a:extLst>
          </p:cNvPr>
          <p:cNvSpPr/>
          <p:nvPr/>
        </p:nvSpPr>
        <p:spPr>
          <a:xfrm>
            <a:off x="914400" y="4434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Umrikar  ·  Master of Business Informatics  ·  Yoobee Colleges  ·  March 2026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BABC662-B84B-200C-D616-2557594FB39B}"/>
              </a:ext>
            </a:extLst>
          </p:cNvPr>
          <p:cNvSpPr/>
          <p:nvPr/>
        </p:nvSpPr>
        <p:spPr>
          <a:xfrm>
            <a:off x="914400" y="484632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Road Safety Analytics: Predicting and Mapping High-Severity Crash Locations in Auckland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9C81454-8139-EB81-4DB8-BA56D758625D}"/>
              </a:ext>
            </a:extLst>
          </p:cNvPr>
          <p:cNvSpPr/>
          <p:nvPr/>
        </p:nvSpPr>
        <p:spPr>
          <a:xfrm>
            <a:off x="914400" y="557784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Assessment 3  ·  Final Research Report &amp; Presentation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26D484E-7FAF-948D-B564-4A62805F69F6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D3C75EA-6AE4-A571-BA9F-56709BEF9E36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623BE2F-B555-EB69-1EA4-D9FE8F961FD8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AE46DAE0-E6F0-2851-6D39-FE08B5DF485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74249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3068</Words>
  <Application>Microsoft Office PowerPoint</Application>
  <PresentationFormat>Widescreen</PresentationFormat>
  <Paragraphs>505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Umrikar</dc:creator>
  <cp:lastModifiedBy>Sneha Umrikar</cp:lastModifiedBy>
  <cp:revision>9</cp:revision>
  <dcterms:created xsi:type="dcterms:W3CDTF">2026-03-24T04:15:18Z</dcterms:created>
  <dcterms:modified xsi:type="dcterms:W3CDTF">2026-04-07T02:03:40Z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2026-03-24T04:15:18Z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39ca71cb-9145-4263-ade3-568d127add4d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